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Mon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Mono-regular.fntdata"/><Relationship Id="rId21" Type="http://schemas.openxmlformats.org/officeDocument/2006/relationships/slide" Target="slides/slide16.xml"/><Relationship Id="rId24" Type="http://schemas.openxmlformats.org/officeDocument/2006/relationships/font" Target="fonts/RobotoMono-italic.fntdata"/><Relationship Id="rId23"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7536e5df2d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7536e5df2d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536e5df2d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536e5df2d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536e5df2d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7536e5df2d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536e5df2d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536e5df2d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536e5df2d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7536e5df2d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7536e5df2d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7536e5df2d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536e5df2d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7536e5df2d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536e5df2d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7536e5df2d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536e5df2d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7536e5df2d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536e5df2d_0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7536e5df2d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536e5df2d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7536e5df2d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7536e5df2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7536e5df2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7536e5df2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7536e5df2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536e5df2d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7536e5df2d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7536e5df2d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7536e5df2d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756c8efc1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756c8efc1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2873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b="1" lang="en" sz="2500"/>
              <a:t>Project name: </a:t>
            </a:r>
            <a:r>
              <a:rPr b="1" i="1" lang="en" sz="2500"/>
              <a:t>Regulatory Reporting – Sports Direct</a:t>
            </a:r>
            <a:br>
              <a:rPr i="1" lang="en" sz="1100"/>
            </a:br>
            <a:endParaRPr i="1" sz="1100"/>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1933575"/>
            <a:ext cx="8520600" cy="792600"/>
          </a:xfrm>
          <a:prstGeom prst="rect">
            <a:avLst/>
          </a:prstGeom>
        </p:spPr>
        <p:txBody>
          <a:bodyPr anchorCtr="0" anchor="t" bIns="91425" lIns="91425" spcFirstLastPara="1" rIns="91425" wrap="square" tIns="91425">
            <a:noAutofit/>
          </a:bodyPr>
          <a:lstStyle/>
          <a:p>
            <a:pPr indent="0" lvl="0" marL="0" rtl="0" algn="l">
              <a:lnSpc>
                <a:spcPct val="105000"/>
              </a:lnSpc>
              <a:spcBef>
                <a:spcPts val="1500"/>
              </a:spcBef>
              <a:spcAft>
                <a:spcPts val="0"/>
              </a:spcAft>
              <a:buClr>
                <a:schemeClr val="dk1"/>
              </a:buClr>
              <a:buSzPts val="440"/>
              <a:buFont typeface="Arial"/>
              <a:buNone/>
            </a:pPr>
            <a:r>
              <a:rPr b="1" lang="en" sz="1840">
                <a:solidFill>
                  <a:schemeClr val="dk1"/>
                </a:solidFill>
              </a:rPr>
              <a:t>Objective:</a:t>
            </a:r>
            <a:br>
              <a:rPr b="1" lang="en" sz="1240">
                <a:solidFill>
                  <a:schemeClr val="dk1"/>
                </a:solidFill>
              </a:rPr>
            </a:br>
            <a:r>
              <a:rPr lang="en" sz="1240">
                <a:solidFill>
                  <a:schemeClr val="dk1"/>
                </a:solidFill>
              </a:rPr>
              <a:t> The primary goal of this project was to aggregate and analyze transaction data for Sports Direct in order to meet regulatory reporting requirements for two distinct entities: R1 (representing the UK operations) and R2 (representing the US operations). This involved consolidating customer and transaction information, ensuring data accuracy through cleaning and validation, and producing actionable insights for reporting purposes.</a:t>
            </a:r>
            <a:endParaRPr sz="1240">
              <a:solidFill>
                <a:schemeClr val="dk1"/>
              </a:solidFill>
            </a:endParaRPr>
          </a:p>
          <a:p>
            <a:pPr indent="0" lvl="0" marL="0" rtl="0" algn="l">
              <a:lnSpc>
                <a:spcPct val="105000"/>
              </a:lnSpc>
              <a:spcBef>
                <a:spcPts val="1500"/>
              </a:spcBef>
              <a:spcAft>
                <a:spcPts val="1500"/>
              </a:spcAft>
              <a:buClr>
                <a:schemeClr val="dk1"/>
              </a:buClr>
              <a:buSzPts val="440"/>
              <a:buFont typeface="Arial"/>
              <a:buNone/>
            </a:pPr>
            <a:r>
              <a:rPr b="1" lang="en" sz="1840">
                <a:solidFill>
                  <a:schemeClr val="dk1"/>
                </a:solidFill>
              </a:rPr>
              <a:t>Focus:</a:t>
            </a:r>
            <a:br>
              <a:rPr b="1" lang="en" sz="1840">
                <a:solidFill>
                  <a:schemeClr val="dk1"/>
                </a:solidFill>
              </a:rPr>
            </a:br>
            <a:r>
              <a:rPr lang="en" sz="1840">
                <a:solidFill>
                  <a:schemeClr val="dk1"/>
                </a:solidFill>
              </a:rPr>
              <a:t> </a:t>
            </a:r>
            <a:r>
              <a:rPr lang="en" sz="1240">
                <a:solidFill>
                  <a:schemeClr val="dk1"/>
                </a:solidFill>
              </a:rPr>
              <a:t>The analysis specifically concentrated on distinguishing between cross-currency and same-currency transactions denominated in GBP over the period from </a:t>
            </a:r>
            <a:r>
              <a:rPr b="1" lang="en" sz="1240">
                <a:solidFill>
                  <a:schemeClr val="dk1"/>
                </a:solidFill>
              </a:rPr>
              <a:t>April 1, 2022, to August 1, 2023</a:t>
            </a:r>
            <a:r>
              <a:rPr lang="en" sz="1240">
                <a:solidFill>
                  <a:schemeClr val="dk1"/>
                </a:solidFill>
              </a:rPr>
              <a:t>. Cross-currency transactions are those where the start and end currencies differ, while same-currency transactions involve no currency conversion. The study aimed to provide both absolute monetary values and relative proportions, enabling a clear understanding of transaction volumes and trends for regulatory reporting.</a:t>
            </a:r>
            <a:endParaRPr sz="124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1" name="Google Shape;61;p14"/>
          <p:cNvSpPr txBox="1"/>
          <p:nvPr>
            <p:ph idx="1" type="body"/>
          </p:nvPr>
        </p:nvSpPr>
        <p:spPr>
          <a:xfrm>
            <a:off x="311700" y="624000"/>
            <a:ext cx="8520600" cy="42603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605"/>
              <a:buFont typeface="Arial"/>
              <a:buNone/>
            </a:pPr>
            <a:r>
              <a:rPr b="1" lang="en">
                <a:solidFill>
                  <a:schemeClr val="dk1"/>
                </a:solidFill>
              </a:rPr>
              <a:t>Data Sources</a:t>
            </a:r>
            <a:endParaRPr b="1">
              <a:solidFill>
                <a:schemeClr val="dk1"/>
              </a:solidFill>
            </a:endParaRPr>
          </a:p>
          <a:p>
            <a:pPr indent="0" lvl="0" marL="0" rtl="0" algn="l">
              <a:lnSpc>
                <a:spcPct val="95000"/>
              </a:lnSpc>
              <a:spcBef>
                <a:spcPts val="1500"/>
              </a:spcBef>
              <a:spcAft>
                <a:spcPts val="0"/>
              </a:spcAft>
              <a:buClr>
                <a:schemeClr val="dk1"/>
              </a:buClr>
              <a:buSzPts val="605"/>
              <a:buFont typeface="Arial"/>
              <a:buNone/>
            </a:pPr>
            <a:r>
              <a:rPr lang="en" sz="1100">
                <a:solidFill>
                  <a:schemeClr val="dk1"/>
                </a:solidFill>
              </a:rPr>
              <a:t>The analysis leveraged two primary datasets—</a:t>
            </a:r>
            <a:r>
              <a:rPr b="1" lang="en" sz="1100">
                <a:solidFill>
                  <a:schemeClr val="dk1"/>
                </a:solidFill>
              </a:rPr>
              <a:t>Customers</a:t>
            </a:r>
            <a:r>
              <a:rPr lang="en" sz="1100">
                <a:solidFill>
                  <a:schemeClr val="dk1"/>
                </a:solidFill>
              </a:rPr>
              <a:t> and </a:t>
            </a:r>
            <a:r>
              <a:rPr b="1" lang="en" sz="1100">
                <a:solidFill>
                  <a:schemeClr val="dk1"/>
                </a:solidFill>
              </a:rPr>
              <a:t>Transactions</a:t>
            </a:r>
            <a:r>
              <a:rPr lang="en" sz="1100">
                <a:solidFill>
                  <a:schemeClr val="dk1"/>
                </a:solidFill>
              </a:rPr>
              <a:t>—to build a comprehensive view of Sports Direct’s transaction activity across the UK and US entities.</a:t>
            </a:r>
            <a:endParaRPr sz="1100">
              <a:solidFill>
                <a:schemeClr val="dk1"/>
              </a:solidFill>
            </a:endParaRPr>
          </a:p>
          <a:p>
            <a:pPr indent="0" lvl="0" marL="0" rtl="0" algn="l">
              <a:lnSpc>
                <a:spcPct val="95000"/>
              </a:lnSpc>
              <a:spcBef>
                <a:spcPts val="1500"/>
              </a:spcBef>
              <a:spcAft>
                <a:spcPts val="0"/>
              </a:spcAft>
              <a:buSzPts val="605"/>
              <a:buNone/>
            </a:pPr>
            <a:r>
              <a:rPr b="1" lang="en">
                <a:solidFill>
                  <a:schemeClr val="dk1"/>
                </a:solidFill>
              </a:rPr>
              <a:t>1. Customers Table</a:t>
            </a:r>
            <a:endParaRPr b="1">
              <a:solidFill>
                <a:schemeClr val="dk1"/>
              </a:solidFill>
            </a:endParaRPr>
          </a:p>
          <a:p>
            <a:pPr indent="0" lvl="0" marL="0" rtl="0" algn="l">
              <a:lnSpc>
                <a:spcPct val="95000"/>
              </a:lnSpc>
              <a:spcBef>
                <a:spcPts val="1500"/>
              </a:spcBef>
              <a:spcAft>
                <a:spcPts val="0"/>
              </a:spcAft>
              <a:buClr>
                <a:schemeClr val="dk1"/>
              </a:buClr>
              <a:buSzPts val="605"/>
              <a:buFont typeface="Arial"/>
              <a:buNone/>
            </a:pPr>
            <a:br>
              <a:rPr b="1" lang="en" sz="1100">
                <a:solidFill>
                  <a:schemeClr val="dk1"/>
                </a:solidFill>
              </a:rPr>
            </a:br>
            <a:r>
              <a:rPr lang="en" sz="1100">
                <a:solidFill>
                  <a:schemeClr val="dk1"/>
                </a:solidFill>
              </a:rPr>
              <a:t> This table contains detailed information about individual customers, including:</a:t>
            </a:r>
            <a:endParaRPr sz="1100">
              <a:solidFill>
                <a:schemeClr val="dk1"/>
              </a:solidFill>
            </a:endParaRPr>
          </a:p>
          <a:p>
            <a:pPr indent="-298450" lvl="0" marL="457200" rtl="0" algn="l">
              <a:lnSpc>
                <a:spcPct val="95000"/>
              </a:lnSpc>
              <a:spcBef>
                <a:spcPts val="1500"/>
              </a:spcBef>
              <a:spcAft>
                <a:spcPts val="0"/>
              </a:spcAft>
              <a:buClr>
                <a:schemeClr val="dk1"/>
              </a:buClr>
              <a:buSzPts val="1100"/>
              <a:buChar char="●"/>
            </a:pPr>
            <a:r>
              <a:rPr lang="en" sz="1100">
                <a:solidFill>
                  <a:srgbClr val="188038"/>
                </a:solidFill>
                <a:latin typeface="Roboto Mono"/>
                <a:ea typeface="Roboto Mono"/>
                <a:cs typeface="Roboto Mono"/>
                <a:sym typeface="Roboto Mono"/>
              </a:rPr>
              <a:t>customer_id</a:t>
            </a:r>
            <a:r>
              <a:rPr lang="en" sz="1100">
                <a:solidFill>
                  <a:schemeClr val="dk1"/>
                </a:solidFill>
              </a:rPr>
              <a:t>: A unique identifier for each customer.</a:t>
            </a:r>
            <a:br>
              <a:rPr lang="en" sz="1100">
                <a:solidFill>
                  <a:schemeClr val="dk1"/>
                </a:solidFill>
              </a:rPr>
            </a:b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rgbClr val="188038"/>
                </a:solidFill>
                <a:latin typeface="Roboto Mono"/>
                <a:ea typeface="Roboto Mono"/>
                <a:cs typeface="Roboto Mono"/>
                <a:sym typeface="Roboto Mono"/>
              </a:rPr>
              <a:t>customer_type</a:t>
            </a:r>
            <a:r>
              <a:rPr lang="en" sz="1100">
                <a:solidFill>
                  <a:schemeClr val="dk1"/>
                </a:solidFill>
              </a:rPr>
              <a:t>: Classification of the customer (e.g., retail, corporate, VIP).</a:t>
            </a:r>
            <a:br>
              <a:rPr lang="en" sz="1100">
                <a:solidFill>
                  <a:schemeClr val="dk1"/>
                </a:solidFill>
              </a:rPr>
            </a:b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rgbClr val="188038"/>
                </a:solidFill>
                <a:latin typeface="Roboto Mono"/>
                <a:ea typeface="Roboto Mono"/>
                <a:cs typeface="Roboto Mono"/>
                <a:sym typeface="Roboto Mono"/>
              </a:rPr>
              <a:t>current_address_country</a:t>
            </a:r>
            <a:r>
              <a:rPr lang="en" sz="1100">
                <a:solidFill>
                  <a:schemeClr val="dk1"/>
                </a:solidFill>
              </a:rPr>
              <a:t>: The country of residence for the customer, used to determine entity affiliation (UK or US).</a:t>
            </a:r>
            <a:br>
              <a:rPr lang="en" sz="1100">
                <a:solidFill>
                  <a:schemeClr val="dk1"/>
                </a:solidFill>
              </a:rPr>
            </a:b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rgbClr val="188038"/>
                </a:solidFill>
                <a:latin typeface="Roboto Mono"/>
                <a:ea typeface="Roboto Mono"/>
                <a:cs typeface="Roboto Mono"/>
                <a:sym typeface="Roboto Mono"/>
              </a:rPr>
              <a:t>customer_since_date</a:t>
            </a:r>
            <a:r>
              <a:rPr lang="en" sz="1100">
                <a:solidFill>
                  <a:schemeClr val="dk1"/>
                </a:solidFill>
              </a:rPr>
              <a:t>: The date when the customer first joined or transacted, providing historical context for customer activity.</a:t>
            </a:r>
            <a:br>
              <a:rPr lang="en" sz="1100">
                <a:solidFill>
                  <a:schemeClr val="dk1"/>
                </a:solidFill>
              </a:rPr>
            </a:br>
            <a:endParaRPr sz="1100">
              <a:solidFill>
                <a:schemeClr val="dk1"/>
              </a:solidFill>
            </a:endParaRPr>
          </a:p>
          <a:p>
            <a:pPr indent="0" lvl="0" marL="0" rtl="0" algn="l">
              <a:lnSpc>
                <a:spcPct val="95000"/>
              </a:lnSpc>
              <a:spcBef>
                <a:spcPts val="1500"/>
              </a:spcBef>
              <a:spcAft>
                <a:spcPts val="1200"/>
              </a:spcAft>
              <a:buSzPts val="605"/>
              <a:buNone/>
            </a:pPr>
            <a:r>
              <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102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7" name="Google Shape;67;p15"/>
          <p:cNvSpPr txBox="1"/>
          <p:nvPr>
            <p:ph idx="1" type="body"/>
          </p:nvPr>
        </p:nvSpPr>
        <p:spPr>
          <a:xfrm>
            <a:off x="311700" y="674825"/>
            <a:ext cx="8520600" cy="4359300"/>
          </a:xfrm>
          <a:prstGeom prst="rect">
            <a:avLst/>
          </a:prstGeom>
        </p:spPr>
        <p:txBody>
          <a:bodyPr anchorCtr="0" anchor="t" bIns="91425" lIns="91425" spcFirstLastPara="1" rIns="91425" wrap="square" tIns="91425">
            <a:noAutofit/>
          </a:bodyPr>
          <a:lstStyle/>
          <a:p>
            <a:pPr indent="0" lvl="0" marL="0" rtl="0" algn="l">
              <a:lnSpc>
                <a:spcPct val="95000"/>
              </a:lnSpc>
              <a:spcBef>
                <a:spcPts val="1500"/>
              </a:spcBef>
              <a:spcAft>
                <a:spcPts val="0"/>
              </a:spcAft>
              <a:buClr>
                <a:schemeClr val="dk1"/>
              </a:buClr>
              <a:buSzPts val="605"/>
              <a:buFont typeface="Arial"/>
              <a:buNone/>
            </a:pPr>
            <a:r>
              <a:rPr b="1" lang="en">
                <a:solidFill>
                  <a:schemeClr val="dk1"/>
                </a:solidFill>
              </a:rPr>
              <a:t>2. Transactions Table</a:t>
            </a:r>
            <a:br>
              <a:rPr b="1" lang="en">
                <a:solidFill>
                  <a:schemeClr val="dk1"/>
                </a:solidFill>
              </a:rPr>
            </a:br>
            <a:r>
              <a:rPr lang="en">
                <a:solidFill>
                  <a:schemeClr val="dk1"/>
                </a:solidFill>
              </a:rPr>
              <a:t> </a:t>
            </a:r>
            <a:r>
              <a:rPr lang="en" sz="1100">
                <a:solidFill>
                  <a:schemeClr val="dk1"/>
                </a:solidFill>
              </a:rPr>
              <a:t>This table captures transactional data for each customer, including:</a:t>
            </a:r>
            <a:endParaRPr sz="1100">
              <a:solidFill>
                <a:schemeClr val="dk1"/>
              </a:solidFill>
            </a:endParaRPr>
          </a:p>
          <a:p>
            <a:pPr indent="-298450" lvl="0" marL="457200" rtl="0" algn="l">
              <a:lnSpc>
                <a:spcPct val="95000"/>
              </a:lnSpc>
              <a:spcBef>
                <a:spcPts val="1500"/>
              </a:spcBef>
              <a:spcAft>
                <a:spcPts val="0"/>
              </a:spcAft>
              <a:buClr>
                <a:schemeClr val="dk1"/>
              </a:buClr>
              <a:buSzPts val="1100"/>
              <a:buChar char="●"/>
            </a:pPr>
            <a:r>
              <a:rPr lang="en" sz="1100">
                <a:solidFill>
                  <a:srgbClr val="188038"/>
                </a:solidFill>
                <a:latin typeface="Roboto Mono"/>
                <a:ea typeface="Roboto Mono"/>
                <a:cs typeface="Roboto Mono"/>
                <a:sym typeface="Roboto Mono"/>
              </a:rPr>
              <a:t>transaction_id</a:t>
            </a:r>
            <a:r>
              <a:rPr lang="en" sz="1100">
                <a:solidFill>
                  <a:schemeClr val="dk1"/>
                </a:solidFill>
              </a:rPr>
              <a:t>: A unique identifier for each transaction.</a:t>
            </a:r>
            <a:br>
              <a:rPr lang="en" sz="1100">
                <a:solidFill>
                  <a:schemeClr val="dk1"/>
                </a:solidFill>
              </a:rPr>
            </a:b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rgbClr val="188038"/>
                </a:solidFill>
                <a:latin typeface="Roboto Mono"/>
                <a:ea typeface="Roboto Mono"/>
                <a:cs typeface="Roboto Mono"/>
                <a:sym typeface="Roboto Mono"/>
              </a:rPr>
              <a:t>customer_id</a:t>
            </a:r>
            <a:r>
              <a:rPr lang="en" sz="1100">
                <a:solidFill>
                  <a:schemeClr val="dk1"/>
                </a:solidFill>
              </a:rPr>
              <a:t>: Links the transaction to the corresponding customer in the Customers table.</a:t>
            </a:r>
            <a:br>
              <a:rPr lang="en" sz="1100">
                <a:solidFill>
                  <a:schemeClr val="dk1"/>
                </a:solidFill>
              </a:rPr>
            </a:b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rgbClr val="188038"/>
                </a:solidFill>
                <a:latin typeface="Roboto Mono"/>
                <a:ea typeface="Roboto Mono"/>
                <a:cs typeface="Roboto Mono"/>
                <a:sym typeface="Roboto Mono"/>
              </a:rPr>
              <a:t>amount_GBP</a:t>
            </a:r>
            <a:r>
              <a:rPr lang="en" sz="1100">
                <a:solidFill>
                  <a:schemeClr val="dk1"/>
                </a:solidFill>
              </a:rPr>
              <a:t>: The transaction value in GBP, serving as the primary metric for analysis.</a:t>
            </a:r>
            <a:br>
              <a:rPr lang="en" sz="1100">
                <a:solidFill>
                  <a:schemeClr val="dk1"/>
                </a:solidFill>
              </a:rPr>
            </a:b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rgbClr val="188038"/>
                </a:solidFill>
                <a:latin typeface="Roboto Mono"/>
                <a:ea typeface="Roboto Mono"/>
                <a:cs typeface="Roboto Mono"/>
                <a:sym typeface="Roboto Mono"/>
              </a:rPr>
              <a:t>currency_route</a:t>
            </a:r>
            <a:r>
              <a:rPr lang="en" sz="1100">
                <a:solidFill>
                  <a:schemeClr val="dk1"/>
                </a:solidFill>
              </a:rPr>
              <a:t>: Indicates the start and end currency for the transaction, enabling differentiation between cross-currency and same-currency transactions.</a:t>
            </a:r>
            <a:br>
              <a:rPr lang="en" sz="1100">
                <a:solidFill>
                  <a:schemeClr val="dk1"/>
                </a:solidFill>
              </a:rPr>
            </a:b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rgbClr val="188038"/>
                </a:solidFill>
                <a:latin typeface="Roboto Mono"/>
                <a:ea typeface="Roboto Mono"/>
                <a:cs typeface="Roboto Mono"/>
                <a:sym typeface="Roboto Mono"/>
              </a:rPr>
              <a:t>transaction_date</a:t>
            </a:r>
            <a:r>
              <a:rPr lang="en" sz="1100">
                <a:solidFill>
                  <a:schemeClr val="dk1"/>
                </a:solidFill>
              </a:rPr>
              <a:t>: The date the transaction occurred, which was filtered for the period </a:t>
            </a:r>
            <a:r>
              <a:rPr b="1" lang="en" sz="1100">
                <a:solidFill>
                  <a:schemeClr val="dk1"/>
                </a:solidFill>
              </a:rPr>
              <a:t>01/04/2022 – 01/08/2023</a:t>
            </a:r>
            <a:r>
              <a:rPr lang="en" sz="1100">
                <a:solidFill>
                  <a:schemeClr val="dk1"/>
                </a:solidFill>
              </a:rPr>
              <a:t> for the reporting scope.</a:t>
            </a:r>
            <a:br>
              <a:rPr lang="en" sz="1100">
                <a:solidFill>
                  <a:schemeClr val="dk1"/>
                </a:solidFill>
              </a:rPr>
            </a:br>
            <a:endParaRPr sz="1100">
              <a:solidFill>
                <a:schemeClr val="dk1"/>
              </a:solidFill>
            </a:endParaRPr>
          </a:p>
          <a:p>
            <a:pPr indent="0" lvl="0" marL="0" rtl="0" algn="l">
              <a:lnSpc>
                <a:spcPct val="95000"/>
              </a:lnSpc>
              <a:spcBef>
                <a:spcPts val="1500"/>
              </a:spcBef>
              <a:spcAft>
                <a:spcPts val="0"/>
              </a:spcAft>
              <a:buClr>
                <a:schemeClr val="dk1"/>
              </a:buClr>
              <a:buSzPts val="605"/>
              <a:buFont typeface="Arial"/>
              <a:buNone/>
            </a:pPr>
            <a:r>
              <a:rPr b="1" lang="en">
                <a:solidFill>
                  <a:schemeClr val="dk1"/>
                </a:solidFill>
              </a:rPr>
              <a:t>Relationship Between Tables</a:t>
            </a:r>
            <a:br>
              <a:rPr b="1" lang="en" sz="1100">
                <a:solidFill>
                  <a:schemeClr val="dk1"/>
                </a:solidFill>
              </a:rPr>
            </a:br>
            <a:r>
              <a:rPr lang="en" sz="1100">
                <a:solidFill>
                  <a:schemeClr val="dk1"/>
                </a:solidFill>
              </a:rPr>
              <a:t> The two tables were joined on </a:t>
            </a:r>
            <a:r>
              <a:rPr lang="en" sz="1100">
                <a:solidFill>
                  <a:srgbClr val="188038"/>
                </a:solidFill>
                <a:latin typeface="Roboto Mono"/>
                <a:ea typeface="Roboto Mono"/>
                <a:cs typeface="Roboto Mono"/>
                <a:sym typeface="Roboto Mono"/>
              </a:rPr>
              <a:t>customer_id</a:t>
            </a:r>
            <a:r>
              <a:rPr lang="en" sz="1100">
                <a:solidFill>
                  <a:schemeClr val="dk1"/>
                </a:solidFill>
              </a:rPr>
              <a:t> to create a consolidated dataset. This allowed each transaction to be enriched with customer attributes, enabling entity-specific analysis and more accurate aggregation of cross-currency and same-currency GBP volumes.</a:t>
            </a:r>
            <a:endParaRPr sz="1100">
              <a:solidFill>
                <a:schemeClr val="dk1"/>
              </a:solidFill>
            </a:endParaRPr>
          </a:p>
          <a:p>
            <a:pPr indent="0" lvl="0" marL="0" rtl="0" algn="l">
              <a:lnSpc>
                <a:spcPct val="95000"/>
              </a:lnSpc>
              <a:spcBef>
                <a:spcPts val="1500"/>
              </a:spcBef>
              <a:spcAft>
                <a:spcPts val="0"/>
              </a:spcAft>
              <a:buClr>
                <a:schemeClr val="dk1"/>
              </a:buClr>
              <a:buSzPts val="605"/>
              <a:buFont typeface="Arial"/>
              <a:buNone/>
            </a:pPr>
            <a:r>
              <a:rPr b="1" lang="en" sz="1100">
                <a:solidFill>
                  <a:schemeClr val="dk1"/>
                </a:solidFill>
              </a:rPr>
              <a:t>Visual Suggestion:</a:t>
            </a:r>
            <a:r>
              <a:rPr lang="en" sz="1100">
                <a:solidFill>
                  <a:schemeClr val="dk1"/>
                </a:solidFill>
              </a:rPr>
              <a:t> A simple diagram showing Customers → Transactions relationship, with arrows linking </a:t>
            </a:r>
            <a:r>
              <a:rPr lang="en" sz="1100">
                <a:solidFill>
                  <a:srgbClr val="188038"/>
                </a:solidFill>
                <a:latin typeface="Roboto Mono"/>
                <a:ea typeface="Roboto Mono"/>
                <a:cs typeface="Roboto Mono"/>
                <a:sym typeface="Roboto Mono"/>
              </a:rPr>
              <a:t>customer_id</a:t>
            </a:r>
            <a:r>
              <a:rPr lang="en" sz="1100">
                <a:solidFill>
                  <a:schemeClr val="dk1"/>
                </a:solidFill>
              </a:rPr>
              <a:t> as the key join field.</a:t>
            </a:r>
            <a:endParaRPr sz="1100">
              <a:solidFill>
                <a:schemeClr val="dk1"/>
              </a:solidFill>
            </a:endParaRPr>
          </a:p>
          <a:p>
            <a:pPr indent="0" lvl="0" marL="0" rtl="0" algn="l">
              <a:lnSpc>
                <a:spcPct val="95000"/>
              </a:lnSpc>
              <a:spcBef>
                <a:spcPts val="1500"/>
              </a:spcBef>
              <a:spcAft>
                <a:spcPts val="0"/>
              </a:spcAft>
              <a:buClr>
                <a:schemeClr val="dk1"/>
              </a:buClr>
              <a:buSzPts val="605"/>
              <a:buFont typeface="Arial"/>
              <a:buNone/>
            </a:pPr>
            <a:r>
              <a:t/>
            </a:r>
            <a:endParaRPr sz="1100"/>
          </a:p>
          <a:p>
            <a:pPr indent="0" lvl="0" marL="0" rtl="0" algn="l">
              <a:spcBef>
                <a:spcPts val="1200"/>
              </a:spcBef>
              <a:spcAft>
                <a:spcPts val="1200"/>
              </a:spcAft>
              <a:buNone/>
            </a:pPr>
            <a:r>
              <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1800"/>
              <a:t>Data Cleaning &amp; Preparation</a:t>
            </a:r>
            <a:endParaRPr sz="3300"/>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298450" lvl="0" marL="457200" rtl="0" algn="l">
              <a:spcBef>
                <a:spcPts val="1500"/>
              </a:spcBef>
              <a:spcAft>
                <a:spcPts val="0"/>
              </a:spcAft>
              <a:buClr>
                <a:schemeClr val="dk1"/>
              </a:buClr>
              <a:buSzPts val="1100"/>
              <a:buChar char="●"/>
            </a:pPr>
            <a:r>
              <a:rPr b="1" lang="en" sz="1100">
                <a:solidFill>
                  <a:schemeClr val="dk1"/>
                </a:solidFill>
              </a:rPr>
              <a:t>Removed duplicates:</a:t>
            </a:r>
            <a:r>
              <a:rPr lang="en" sz="1100">
                <a:solidFill>
                  <a:schemeClr val="dk1"/>
                </a:solidFill>
              </a:rPr>
              <a:t> Ensure each </a:t>
            </a:r>
            <a:r>
              <a:rPr lang="en" sz="1100">
                <a:solidFill>
                  <a:srgbClr val="188038"/>
                </a:solidFill>
                <a:latin typeface="Roboto Mono"/>
                <a:ea typeface="Roboto Mono"/>
                <a:cs typeface="Roboto Mono"/>
                <a:sym typeface="Roboto Mono"/>
              </a:rPr>
              <a:t>transaction_id</a:t>
            </a:r>
            <a:r>
              <a:rPr lang="en" sz="1100">
                <a:solidFill>
                  <a:schemeClr val="dk1"/>
                </a:solidFill>
              </a:rPr>
              <a:t> is unique.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Excluded negative values:</a:t>
            </a:r>
            <a:r>
              <a:rPr lang="en" sz="1100">
                <a:solidFill>
                  <a:schemeClr val="dk1"/>
                </a:solidFill>
              </a:rPr>
              <a:t> Focus on positive GBP transactions only.</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Standardized text fields:</a:t>
            </a:r>
            <a:r>
              <a:rPr lang="en" sz="1100">
                <a:solidFill>
                  <a:schemeClr val="dk1"/>
                </a:solidFill>
              </a:rPr>
              <a:t> Trimmed whitespaces in </a:t>
            </a:r>
            <a:r>
              <a:rPr lang="en" sz="1100">
                <a:solidFill>
                  <a:srgbClr val="188038"/>
                </a:solidFill>
                <a:latin typeface="Roboto Mono"/>
                <a:ea typeface="Roboto Mono"/>
                <a:cs typeface="Roboto Mono"/>
                <a:sym typeface="Roboto Mono"/>
              </a:rPr>
              <a:t>customer_type</a:t>
            </a:r>
            <a:r>
              <a:rPr lang="en" sz="1100">
                <a:solidFill>
                  <a:schemeClr val="dk1"/>
                </a:solidFill>
              </a:rPr>
              <a:t> and </a:t>
            </a:r>
            <a:r>
              <a:rPr lang="en" sz="1100">
                <a:solidFill>
                  <a:srgbClr val="188038"/>
                </a:solidFill>
                <a:latin typeface="Roboto Mono"/>
                <a:ea typeface="Roboto Mono"/>
                <a:cs typeface="Roboto Mono"/>
                <a:sym typeface="Roboto Mono"/>
              </a:rPr>
              <a:t>currency_route</a:t>
            </a:r>
            <a:r>
              <a:rPr lang="en" sz="1100">
                <a:solidFill>
                  <a:schemeClr val="dk1"/>
                </a:solidFill>
              </a:rPr>
              <a:t>.</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Joined tables:</a:t>
            </a:r>
            <a:r>
              <a:rPr lang="en" sz="1100">
                <a:solidFill>
                  <a:schemeClr val="dk1"/>
                </a:solidFill>
              </a:rPr>
              <a:t> Merged Customers &amp; Transactions on </a:t>
            </a:r>
            <a:r>
              <a:rPr lang="en" sz="1100">
                <a:solidFill>
                  <a:srgbClr val="188038"/>
                </a:solidFill>
                <a:latin typeface="Roboto Mono"/>
                <a:ea typeface="Roboto Mono"/>
                <a:cs typeface="Roboto Mono"/>
                <a:sym typeface="Roboto Mono"/>
              </a:rPr>
              <a:t>customer_id</a:t>
            </a:r>
            <a:r>
              <a:rPr lang="en" sz="1100">
                <a:solidFill>
                  <a:schemeClr val="dk1"/>
                </a:solidFill>
              </a:rPr>
              <a:t> → created </a:t>
            </a:r>
            <a:r>
              <a:rPr lang="en" sz="1100">
                <a:solidFill>
                  <a:srgbClr val="188038"/>
                </a:solidFill>
                <a:latin typeface="Roboto Mono"/>
                <a:ea typeface="Roboto Mono"/>
                <a:cs typeface="Roboto Mono"/>
                <a:sym typeface="Roboto Mono"/>
              </a:rPr>
              <a:t>customer_transactions</a:t>
            </a:r>
            <a:r>
              <a:rPr lang="en" sz="1100">
                <a:solidFill>
                  <a:schemeClr val="dk1"/>
                </a:solidFill>
              </a:rPr>
              <a:t> dataset.</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Result:</a:t>
            </a:r>
            <a:r>
              <a:rPr lang="en" sz="1100">
                <a:solidFill>
                  <a:schemeClr val="dk1"/>
                </a:solidFill>
              </a:rPr>
              <a:t> Clean, consolidated dataset ready for analysis and visualization.</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Purpose:</a:t>
            </a:r>
            <a:r>
              <a:rPr lang="en" sz="1100">
                <a:solidFill>
                  <a:schemeClr val="dk1"/>
                </a:solidFill>
              </a:rPr>
              <a:t> Ensures accurate aggregation of metrics for R1 (UK) and R2 (US) entities.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Next step:</a:t>
            </a:r>
            <a:r>
              <a:rPr lang="en" sz="1100">
                <a:solidFill>
                  <a:schemeClr val="dk1"/>
                </a:solidFill>
              </a:rPr>
              <a:t> Use this dataset to calculate cross-currency vs same-currency transaction volumes.</a:t>
            </a:r>
            <a:br>
              <a:rPr lang="en" sz="1100">
                <a:solidFill>
                  <a:schemeClr val="dk1"/>
                </a:solidFill>
              </a:rPr>
            </a:br>
            <a:endParaRPr sz="1100">
              <a:solidFill>
                <a:schemeClr val="dk1"/>
              </a:solidFill>
            </a:endParaRPr>
          </a:p>
          <a:p>
            <a:pPr indent="0" lvl="0" marL="0" rtl="0" algn="l">
              <a:spcBef>
                <a:spcPts val="1500"/>
              </a:spcBef>
              <a:spcAft>
                <a:spcPts val="0"/>
              </a:spcAft>
              <a:buClr>
                <a:schemeClr val="dk1"/>
              </a:buClr>
              <a:buSzPts val="1100"/>
              <a:buFont typeface="Arial"/>
              <a:buNone/>
            </a:pPr>
            <a:r>
              <a:rPr b="1" lang="en" sz="1100">
                <a:solidFill>
                  <a:schemeClr val="dk1"/>
                </a:solidFill>
              </a:rPr>
              <a:t>Visual Suggestion:</a:t>
            </a:r>
            <a:r>
              <a:rPr lang="en" sz="1100">
                <a:solidFill>
                  <a:schemeClr val="dk1"/>
                </a:solidFill>
              </a:rPr>
              <a:t> Simple flow diagram:</a:t>
            </a:r>
            <a:br>
              <a:rPr lang="en" sz="1100">
                <a:solidFill>
                  <a:schemeClr val="dk1"/>
                </a:solidFill>
              </a:rPr>
            </a:br>
            <a:r>
              <a:rPr lang="en" sz="1100">
                <a:solidFill>
                  <a:schemeClr val="dk1"/>
                </a:solidFill>
              </a:rPr>
              <a:t> </a:t>
            </a:r>
            <a:r>
              <a:rPr b="1" lang="en" sz="1100">
                <a:solidFill>
                  <a:schemeClr val="dk1"/>
                </a:solidFill>
              </a:rPr>
              <a:t>Raw Customers &amp; Transactions → Cleaning → Join → Customer_Transactions Dataset</a:t>
            </a:r>
            <a:endParaRPr b="1" sz="1100">
              <a:solidFill>
                <a:schemeClr val="dk1"/>
              </a:solidFill>
            </a:endParaRPr>
          </a:p>
          <a:p>
            <a:pPr indent="0" lvl="0" marL="0" rtl="0" algn="l">
              <a:spcBef>
                <a:spcPts val="1500"/>
              </a:spcBef>
              <a:spcAft>
                <a:spcPts val="1200"/>
              </a:spcAft>
              <a:buNone/>
            </a:pPr>
            <a:r>
              <a:t/>
            </a:r>
            <a:endParaRPr b="1"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33847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800"/>
              <a:t>Metrics Calculation</a:t>
            </a:r>
            <a:endParaRPr b="1" sz="1800"/>
          </a:p>
          <a:p>
            <a:pPr indent="0" lvl="0" marL="0" rtl="0" algn="l">
              <a:spcBef>
                <a:spcPts val="400"/>
              </a:spcBef>
              <a:spcAft>
                <a:spcPts val="0"/>
              </a:spcAft>
              <a:buNone/>
            </a:pPr>
            <a:r>
              <a:t/>
            </a:r>
            <a:endParaRPr b="1" sz="1800"/>
          </a:p>
        </p:txBody>
      </p:sp>
      <p:sp>
        <p:nvSpPr>
          <p:cNvPr id="79" name="Google Shape;79;p17"/>
          <p:cNvSpPr txBox="1"/>
          <p:nvPr>
            <p:ph idx="1" type="body"/>
          </p:nvPr>
        </p:nvSpPr>
        <p:spPr>
          <a:xfrm>
            <a:off x="311700" y="707975"/>
            <a:ext cx="8520600" cy="4435500"/>
          </a:xfrm>
          <a:prstGeom prst="rect">
            <a:avLst/>
          </a:prstGeom>
        </p:spPr>
        <p:txBody>
          <a:bodyPr anchorCtr="0" anchor="t" bIns="91425" lIns="91425" spcFirstLastPara="1" rIns="91425" wrap="square" tIns="91425">
            <a:noAutofit/>
          </a:bodyPr>
          <a:lstStyle/>
          <a:p>
            <a:pPr indent="-434975" lvl="0" marL="457200" rtl="0" algn="l">
              <a:spcBef>
                <a:spcPts val="1500"/>
              </a:spcBef>
              <a:spcAft>
                <a:spcPts val="0"/>
              </a:spcAft>
              <a:buClr>
                <a:schemeClr val="dk1"/>
              </a:buClr>
              <a:buSzPts val="3250"/>
              <a:buChar char="●"/>
            </a:pPr>
            <a:r>
              <a:rPr b="1" lang="en">
                <a:solidFill>
                  <a:schemeClr val="dk1"/>
                </a:solidFill>
              </a:rPr>
              <a:t>Cross-Currency vs Same-Currency:</a:t>
            </a:r>
            <a:br>
              <a:rPr b="1" lang="en" sz="3250">
                <a:solidFill>
                  <a:schemeClr val="dk1"/>
                </a:solidFill>
              </a:rPr>
            </a:br>
            <a:endParaRPr i="1" sz="1100">
              <a:solidFill>
                <a:schemeClr val="dk1"/>
              </a:solidFill>
            </a:endParaRPr>
          </a:p>
          <a:p>
            <a:pPr indent="-298450" lvl="1" marL="914400" rtl="0" algn="l">
              <a:spcBef>
                <a:spcPts val="0"/>
              </a:spcBef>
              <a:spcAft>
                <a:spcPts val="0"/>
              </a:spcAft>
              <a:buClr>
                <a:schemeClr val="dk1"/>
              </a:buClr>
              <a:buSzPts val="1100"/>
              <a:buChar char="○"/>
            </a:pPr>
            <a:r>
              <a:rPr i="1" lang="en" sz="1100">
                <a:solidFill>
                  <a:schemeClr val="dk1"/>
                </a:solidFill>
              </a:rPr>
              <a:t>Cross-Currency:</a:t>
            </a:r>
            <a:r>
              <a:rPr lang="en" sz="1100">
                <a:solidFill>
                  <a:schemeClr val="dk1"/>
                </a:solidFill>
              </a:rPr>
              <a:t> Start and end currencies differ.</a:t>
            </a:r>
            <a:br>
              <a:rPr lang="en" sz="1100">
                <a:solidFill>
                  <a:schemeClr val="dk1"/>
                </a:solidFill>
              </a:rPr>
            </a:br>
            <a:endParaRPr sz="1100">
              <a:solidFill>
                <a:schemeClr val="dk1"/>
              </a:solidFill>
            </a:endParaRPr>
          </a:p>
          <a:p>
            <a:pPr indent="-298450" lvl="1" marL="914400" rtl="0" algn="l">
              <a:spcBef>
                <a:spcPts val="0"/>
              </a:spcBef>
              <a:spcAft>
                <a:spcPts val="0"/>
              </a:spcAft>
              <a:buClr>
                <a:schemeClr val="dk1"/>
              </a:buClr>
              <a:buSzPts val="1100"/>
              <a:buChar char="○"/>
            </a:pPr>
            <a:r>
              <a:rPr i="1" lang="en" sz="1100">
                <a:solidFill>
                  <a:schemeClr val="dk1"/>
                </a:solidFill>
              </a:rPr>
              <a:t>Same-Currency:</a:t>
            </a:r>
            <a:r>
              <a:rPr lang="en" sz="1100">
                <a:solidFill>
                  <a:schemeClr val="dk1"/>
                </a:solidFill>
              </a:rPr>
              <a:t> Start and end currencies are the same.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R1 – UK Entity:</a:t>
            </a:r>
            <a:r>
              <a:rPr lang="en" sz="1100">
                <a:solidFill>
                  <a:schemeClr val="dk1"/>
                </a:solidFill>
              </a:rPr>
              <a:t> Filter by </a:t>
            </a:r>
            <a:r>
              <a:rPr lang="en" sz="1100">
                <a:solidFill>
                  <a:srgbClr val="188038"/>
                </a:solidFill>
                <a:latin typeface="Roboto Mono"/>
                <a:ea typeface="Roboto Mono"/>
                <a:cs typeface="Roboto Mono"/>
                <a:sym typeface="Roboto Mono"/>
              </a:rPr>
              <a:t>current_address_country = 'UK'</a:t>
            </a:r>
            <a:r>
              <a:rPr lang="en" sz="1100">
                <a:solidFill>
                  <a:schemeClr val="dk1"/>
                </a:solidFill>
              </a:rPr>
              <a:t> and transactions including GBP.</a:t>
            </a:r>
            <a:br>
              <a:rPr lang="en" sz="1100">
                <a:solidFill>
                  <a:schemeClr val="dk1"/>
                </a:solidFill>
              </a:rPr>
            </a:br>
            <a:endParaRPr sz="1100">
              <a:solidFill>
                <a:schemeClr val="dk1"/>
              </a:solidFill>
            </a:endParaRPr>
          </a:p>
          <a:p>
            <a:pPr indent="-339725" lvl="0" marL="457200" rtl="0" algn="l">
              <a:spcBef>
                <a:spcPts val="0"/>
              </a:spcBef>
              <a:spcAft>
                <a:spcPts val="0"/>
              </a:spcAft>
              <a:buClr>
                <a:schemeClr val="dk1"/>
              </a:buClr>
              <a:buSzPts val="1750"/>
              <a:buChar char="●"/>
            </a:pPr>
            <a:r>
              <a:rPr b="1" lang="en" sz="1100">
                <a:solidFill>
                  <a:schemeClr val="dk1"/>
                </a:solidFill>
              </a:rPr>
              <a:t>R2 – US Entity:</a:t>
            </a:r>
            <a:r>
              <a:rPr lang="en" sz="1100">
                <a:solidFill>
                  <a:schemeClr val="dk1"/>
                </a:solidFill>
              </a:rPr>
              <a:t> Filter by </a:t>
            </a:r>
            <a:r>
              <a:rPr lang="en" sz="1100">
                <a:solidFill>
                  <a:srgbClr val="188038"/>
                </a:solidFill>
                <a:latin typeface="Roboto Mono"/>
                <a:ea typeface="Roboto Mono"/>
                <a:cs typeface="Roboto Mono"/>
                <a:sym typeface="Roboto Mono"/>
              </a:rPr>
              <a:t>current_address_country = 'USA'</a:t>
            </a:r>
            <a:r>
              <a:rPr lang="en" sz="1100">
                <a:solidFill>
                  <a:schemeClr val="dk1"/>
                </a:solidFill>
              </a:rPr>
              <a:t> or </a:t>
            </a:r>
            <a:r>
              <a:rPr lang="en" sz="1100">
                <a:solidFill>
                  <a:srgbClr val="188038"/>
                </a:solidFill>
                <a:latin typeface="Roboto Mono"/>
                <a:ea typeface="Roboto Mono"/>
                <a:cs typeface="Roboto Mono"/>
                <a:sym typeface="Roboto Mono"/>
              </a:rPr>
              <a:t>transaction_origin_country = 'USA'</a:t>
            </a:r>
            <a:r>
              <a:rPr lang="en" sz="1100">
                <a:solidFill>
                  <a:schemeClr val="dk1"/>
                </a:solidFill>
              </a:rPr>
              <a:t>.</a:t>
            </a:r>
            <a:br>
              <a:rPr lang="en" sz="1750">
                <a:solidFill>
                  <a:schemeClr val="dk1"/>
                </a:solidFill>
              </a:rPr>
            </a:br>
            <a:endParaRPr sz="1750">
              <a:solidFill>
                <a:schemeClr val="dk1"/>
              </a:solidFill>
            </a:endParaRPr>
          </a:p>
          <a:p>
            <a:pPr indent="-361950" lvl="0" marL="457200" rtl="0" algn="l">
              <a:spcBef>
                <a:spcPts val="0"/>
              </a:spcBef>
              <a:spcAft>
                <a:spcPts val="0"/>
              </a:spcAft>
              <a:buClr>
                <a:schemeClr val="dk1"/>
              </a:buClr>
              <a:buSzPts val="2100"/>
              <a:buChar char="●"/>
            </a:pPr>
            <a:r>
              <a:rPr b="1" lang="en">
                <a:solidFill>
                  <a:schemeClr val="dk1"/>
                </a:solidFill>
              </a:rPr>
              <a:t>Metric Types:</a:t>
            </a:r>
            <a:br>
              <a:rPr b="1" lang="en" sz="2100">
                <a:solidFill>
                  <a:schemeClr val="dk1"/>
                </a:solidFill>
              </a:rPr>
            </a:br>
            <a:endParaRPr b="1" sz="1550">
              <a:solidFill>
                <a:schemeClr val="dk1"/>
              </a:solidFill>
            </a:endParaRPr>
          </a:p>
          <a:p>
            <a:pPr indent="-298450" lvl="1" marL="914400" rtl="0" algn="l">
              <a:spcBef>
                <a:spcPts val="0"/>
              </a:spcBef>
              <a:spcAft>
                <a:spcPts val="0"/>
              </a:spcAft>
              <a:buClr>
                <a:schemeClr val="dk1"/>
              </a:buClr>
              <a:buSzPts val="1100"/>
              <a:buChar char="○"/>
            </a:pPr>
            <a:r>
              <a:rPr i="1" lang="en" sz="1100">
                <a:solidFill>
                  <a:schemeClr val="dk1"/>
                </a:solidFill>
              </a:rPr>
              <a:t>Absolute values:</a:t>
            </a:r>
            <a:r>
              <a:rPr lang="en" sz="1100">
                <a:solidFill>
                  <a:schemeClr val="dk1"/>
                </a:solidFill>
              </a:rPr>
              <a:t> Total GBP volume per category.</a:t>
            </a:r>
            <a:br>
              <a:rPr lang="en" sz="1100">
                <a:solidFill>
                  <a:schemeClr val="dk1"/>
                </a:solidFill>
              </a:rPr>
            </a:br>
            <a:endParaRPr sz="1100">
              <a:solidFill>
                <a:schemeClr val="dk1"/>
              </a:solidFill>
            </a:endParaRPr>
          </a:p>
          <a:p>
            <a:pPr indent="-298450" lvl="1" marL="914400" rtl="0" algn="l">
              <a:spcBef>
                <a:spcPts val="0"/>
              </a:spcBef>
              <a:spcAft>
                <a:spcPts val="0"/>
              </a:spcAft>
              <a:buClr>
                <a:schemeClr val="dk1"/>
              </a:buClr>
              <a:buSzPts val="1100"/>
              <a:buChar char="○"/>
            </a:pPr>
            <a:r>
              <a:rPr i="1" lang="en" sz="1100">
                <a:solidFill>
                  <a:schemeClr val="dk1"/>
                </a:solidFill>
              </a:rPr>
              <a:t>Relative values:</a:t>
            </a:r>
            <a:r>
              <a:rPr lang="en" sz="1100">
                <a:solidFill>
                  <a:schemeClr val="dk1"/>
                </a:solidFill>
              </a:rPr>
              <a:t> Percentage of total GBP volume.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Visuals:</a:t>
            </a:r>
            <a:r>
              <a:rPr lang="en" sz="1100">
                <a:solidFill>
                  <a:schemeClr val="dk1"/>
                </a:solidFill>
              </a:rPr>
              <a:t> Bar and pie charts to compare cross vs same-currency transactions.</a:t>
            </a:r>
            <a:endParaRPr sz="1100">
              <a:solidFill>
                <a:schemeClr val="dk1"/>
              </a:solidFill>
            </a:endParaRPr>
          </a:p>
          <a:p>
            <a:pPr indent="0" lvl="0" marL="0" rtl="0" algn="l">
              <a:spcBef>
                <a:spcPts val="15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2926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1800"/>
              <a:t>R1 – UK Entity Metrics</a:t>
            </a:r>
            <a:endParaRPr sz="1800"/>
          </a:p>
        </p:txBody>
      </p:sp>
      <p:sp>
        <p:nvSpPr>
          <p:cNvPr id="85" name="Google Shape;85;p18"/>
          <p:cNvSpPr txBox="1"/>
          <p:nvPr>
            <p:ph idx="1" type="body"/>
          </p:nvPr>
        </p:nvSpPr>
        <p:spPr>
          <a:xfrm>
            <a:off x="311700" y="292625"/>
            <a:ext cx="8520600" cy="48510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t/>
            </a:r>
            <a:endParaRPr b="1" sz="1100">
              <a:solidFill>
                <a:schemeClr val="dk1"/>
              </a:solidFill>
            </a:endParaRPr>
          </a:p>
          <a:p>
            <a:pPr indent="-298450" lvl="0" marL="457200" rtl="0" algn="l">
              <a:spcBef>
                <a:spcPts val="1500"/>
              </a:spcBef>
              <a:spcAft>
                <a:spcPts val="0"/>
              </a:spcAft>
              <a:buClr>
                <a:schemeClr val="dk1"/>
              </a:buClr>
              <a:buSzPts val="1100"/>
              <a:buChar char="●"/>
            </a:pPr>
            <a:r>
              <a:rPr b="1" lang="en">
                <a:solidFill>
                  <a:schemeClr val="dk1"/>
                </a:solidFill>
              </a:rPr>
              <a:t>Filters applied:</a:t>
            </a:r>
            <a:br>
              <a:rPr b="1" lang="en" sz="1100">
                <a:solidFill>
                  <a:schemeClr val="dk1"/>
                </a:solidFill>
              </a:rPr>
            </a:br>
            <a:endParaRPr b="1" sz="1100">
              <a:solidFill>
                <a:schemeClr val="dk1"/>
              </a:solidFill>
            </a:endParaRPr>
          </a:p>
          <a:p>
            <a:pPr indent="-298450" lvl="1" marL="914400" rtl="0" algn="l">
              <a:spcBef>
                <a:spcPts val="0"/>
              </a:spcBef>
              <a:spcAft>
                <a:spcPts val="0"/>
              </a:spcAft>
              <a:buClr>
                <a:schemeClr val="dk1"/>
              </a:buClr>
              <a:buSzPts val="1100"/>
              <a:buChar char="○"/>
            </a:pPr>
            <a:r>
              <a:rPr lang="en" sz="1100">
                <a:solidFill>
                  <a:srgbClr val="188038"/>
                </a:solidFill>
                <a:latin typeface="Roboto Mono"/>
                <a:ea typeface="Roboto Mono"/>
                <a:cs typeface="Roboto Mono"/>
                <a:sym typeface="Roboto Mono"/>
              </a:rPr>
              <a:t>current_address_country = 'UK'</a:t>
            </a:r>
            <a:endParaRPr sz="1100">
              <a:solidFill>
                <a:srgbClr val="188038"/>
              </a:solidFill>
              <a:latin typeface="Roboto Mono"/>
              <a:ea typeface="Roboto Mono"/>
              <a:cs typeface="Roboto Mono"/>
              <a:sym typeface="Roboto Mono"/>
            </a:endParaRPr>
          </a:p>
          <a:p>
            <a:pPr indent="-298450" lvl="1" marL="914400" rtl="0" algn="l">
              <a:spcBef>
                <a:spcPts val="0"/>
              </a:spcBef>
              <a:spcAft>
                <a:spcPts val="0"/>
              </a:spcAft>
              <a:buClr>
                <a:schemeClr val="dk1"/>
              </a:buClr>
              <a:buSzPts val="1100"/>
              <a:buChar char="○"/>
            </a:pPr>
            <a:r>
              <a:rPr lang="en" sz="1100">
                <a:solidFill>
                  <a:schemeClr val="dk1"/>
                </a:solidFill>
              </a:rPr>
              <a:t>Transactions including GBP</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Date range: 01/04/2022 – 01/08/2023</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a:solidFill>
                  <a:schemeClr val="dk1"/>
                </a:solidFill>
              </a:rPr>
              <a:t>Metrics:</a:t>
            </a:r>
            <a:br>
              <a:rPr b="1" lang="en" sz="1100">
                <a:solidFill>
                  <a:schemeClr val="dk1"/>
                </a:solidFill>
              </a:rPr>
            </a:br>
            <a:endParaRPr b="1" sz="1100">
              <a:solidFill>
                <a:schemeClr val="dk1"/>
              </a:solidFill>
            </a:endParaRPr>
          </a:p>
          <a:p>
            <a:pPr indent="-298450" lvl="1" marL="914400" rtl="0" algn="l">
              <a:spcBef>
                <a:spcPts val="0"/>
              </a:spcBef>
              <a:spcAft>
                <a:spcPts val="0"/>
              </a:spcAft>
              <a:buClr>
                <a:schemeClr val="dk1"/>
              </a:buClr>
              <a:buSzPts val="1100"/>
              <a:buChar char="○"/>
            </a:pPr>
            <a:r>
              <a:rPr i="1" lang="en" sz="1100">
                <a:solidFill>
                  <a:schemeClr val="dk1"/>
                </a:solidFill>
              </a:rPr>
              <a:t>Cross-Currency GBP:</a:t>
            </a:r>
            <a:r>
              <a:rPr lang="en" sz="1100">
                <a:solidFill>
                  <a:schemeClr val="dk1"/>
                </a:solidFill>
              </a:rPr>
              <a:t> Total value of transactions with currency conversion</a:t>
            </a:r>
            <a:endParaRPr sz="1100">
              <a:solidFill>
                <a:schemeClr val="dk1"/>
              </a:solidFill>
            </a:endParaRPr>
          </a:p>
          <a:p>
            <a:pPr indent="-298450" lvl="1" marL="914400" rtl="0" algn="l">
              <a:spcBef>
                <a:spcPts val="0"/>
              </a:spcBef>
              <a:spcAft>
                <a:spcPts val="0"/>
              </a:spcAft>
              <a:buClr>
                <a:schemeClr val="dk1"/>
              </a:buClr>
              <a:buSzPts val="1100"/>
              <a:buChar char="○"/>
            </a:pPr>
            <a:r>
              <a:rPr i="1" lang="en" sz="1100">
                <a:solidFill>
                  <a:schemeClr val="dk1"/>
                </a:solidFill>
              </a:rPr>
              <a:t>Same-Currency GBP:</a:t>
            </a:r>
            <a:r>
              <a:rPr lang="en" sz="1100">
                <a:solidFill>
                  <a:schemeClr val="dk1"/>
                </a:solidFill>
              </a:rPr>
              <a:t> Total value of transactions without conversion</a:t>
            </a:r>
            <a:endParaRPr sz="1100">
              <a:solidFill>
                <a:schemeClr val="dk1"/>
              </a:solidFill>
            </a:endParaRPr>
          </a:p>
          <a:p>
            <a:pPr indent="-298450" lvl="1" marL="914400" rtl="0" algn="l">
              <a:spcBef>
                <a:spcPts val="0"/>
              </a:spcBef>
              <a:spcAft>
                <a:spcPts val="0"/>
              </a:spcAft>
              <a:buClr>
                <a:schemeClr val="dk1"/>
              </a:buClr>
              <a:buSzPts val="1100"/>
              <a:buChar char="○"/>
            </a:pPr>
            <a:r>
              <a:rPr i="1" lang="en" sz="1100">
                <a:solidFill>
                  <a:schemeClr val="dk1"/>
                </a:solidFill>
              </a:rPr>
              <a:t>Relative values:</a:t>
            </a:r>
            <a:r>
              <a:rPr lang="en" sz="1100">
                <a:solidFill>
                  <a:schemeClr val="dk1"/>
                </a:solidFill>
              </a:rPr>
              <a:t> Percentage of total GBP volume</a:t>
            </a:r>
            <a:br>
              <a:rPr lang="en" sz="1100">
                <a:solidFill>
                  <a:schemeClr val="dk1"/>
                </a:solidFill>
              </a:rPr>
            </a:br>
            <a:endParaRPr sz="1100">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Visuals:</a:t>
            </a:r>
            <a:endParaRPr b="1">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Bar chart for absolute GBP values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Pie chart for relative proportions</a:t>
            </a:r>
            <a:endParaRPr sz="1100">
              <a:solidFill>
                <a:schemeClr val="dk1"/>
              </a:solidFill>
            </a:endParaRPr>
          </a:p>
          <a:p>
            <a:pPr indent="0" lvl="0" marL="0" rtl="0" algn="l">
              <a:spcBef>
                <a:spcPts val="1500"/>
              </a:spcBef>
              <a:spcAft>
                <a:spcPts val="0"/>
              </a:spcAft>
              <a:buNone/>
            </a:pPr>
            <a:r>
              <a:t/>
            </a:r>
            <a:endParaRPr sz="1100">
              <a:solidFill>
                <a:schemeClr val="dk1"/>
              </a:solidFill>
            </a:endParaRPr>
          </a:p>
          <a:p>
            <a:pPr indent="-298450" lvl="0" marL="457200" rtl="0" algn="l">
              <a:spcBef>
                <a:spcPts val="1500"/>
              </a:spcBef>
              <a:spcAft>
                <a:spcPts val="0"/>
              </a:spcAft>
              <a:buClr>
                <a:schemeClr val="dk1"/>
              </a:buClr>
              <a:buSzPts val="1100"/>
              <a:buChar char="●"/>
            </a:pPr>
            <a:r>
              <a:rPr b="1" lang="en" sz="1100">
                <a:solidFill>
                  <a:schemeClr val="dk1"/>
                </a:solidFill>
              </a:rPr>
              <a:t>Insight:</a:t>
            </a:r>
            <a:r>
              <a:rPr lang="en" sz="1100">
                <a:solidFill>
                  <a:schemeClr val="dk1"/>
                </a:solidFill>
              </a:rPr>
              <a:t> Quickly compare cross-currency vs same-currency activity for the UK entity.</a:t>
            </a:r>
            <a:br>
              <a:rPr lang="en" sz="1100">
                <a:solidFill>
                  <a:schemeClr val="dk1"/>
                </a:solidFill>
              </a:rPr>
            </a:br>
            <a:endParaRPr sz="1100">
              <a:solidFill>
                <a:schemeClr val="dk1"/>
              </a:solidFill>
            </a:endParaRPr>
          </a:p>
          <a:p>
            <a:pPr indent="0" lvl="0" marL="0" rtl="0" algn="l">
              <a:spcBef>
                <a:spcPts val="1500"/>
              </a:spcBef>
              <a:spcAft>
                <a:spcPts val="1200"/>
              </a:spcAft>
              <a:buNone/>
            </a:pPr>
            <a:r>
              <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2" name="Google Shape;92;p19"/>
          <p:cNvPicPr preferRelativeResize="0"/>
          <p:nvPr/>
        </p:nvPicPr>
        <p:blipFill>
          <a:blip r:embed="rId3">
            <a:alphaModFix/>
          </a:blip>
          <a:stretch>
            <a:fillRect/>
          </a:stretch>
        </p:blipFill>
        <p:spPr>
          <a:xfrm>
            <a:off x="0" y="219000"/>
            <a:ext cx="9143998" cy="4924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290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820"/>
              <a:t>R2 – US Entity Metrics</a:t>
            </a:r>
            <a:endParaRPr b="1" sz="1820"/>
          </a:p>
        </p:txBody>
      </p:sp>
      <p:sp>
        <p:nvSpPr>
          <p:cNvPr id="98" name="Google Shape;98;p20"/>
          <p:cNvSpPr txBox="1"/>
          <p:nvPr>
            <p:ph idx="1" type="body"/>
          </p:nvPr>
        </p:nvSpPr>
        <p:spPr>
          <a:xfrm>
            <a:off x="311700" y="863550"/>
            <a:ext cx="8520600" cy="4280100"/>
          </a:xfrm>
          <a:prstGeom prst="rect">
            <a:avLst/>
          </a:prstGeom>
        </p:spPr>
        <p:txBody>
          <a:bodyPr anchorCtr="0" anchor="t" bIns="91425" lIns="91425" spcFirstLastPara="1" rIns="91425" wrap="square" tIns="91425">
            <a:normAutofit fontScale="85000" lnSpcReduction="20000"/>
          </a:bodyPr>
          <a:lstStyle/>
          <a:p>
            <a:pPr indent="-287972" lvl="0" marL="457200" rtl="0" algn="l">
              <a:spcBef>
                <a:spcPts val="1500"/>
              </a:spcBef>
              <a:spcAft>
                <a:spcPts val="0"/>
              </a:spcAft>
              <a:buClr>
                <a:schemeClr val="dk1"/>
              </a:buClr>
              <a:buSzPct val="47826"/>
              <a:buChar char="●"/>
            </a:pPr>
            <a:r>
              <a:rPr b="1" lang="en" sz="2300">
                <a:solidFill>
                  <a:schemeClr val="dk1"/>
                </a:solidFill>
              </a:rPr>
              <a:t>Filters applied:</a:t>
            </a:r>
            <a:br>
              <a:rPr b="1" lang="en" sz="1100">
                <a:solidFill>
                  <a:schemeClr val="dk1"/>
                </a:solidFill>
              </a:rPr>
            </a:br>
            <a:endParaRPr b="1" sz="1100">
              <a:solidFill>
                <a:schemeClr val="dk1"/>
              </a:solidFill>
            </a:endParaRPr>
          </a:p>
          <a:p>
            <a:pPr indent="-287972" lvl="1" marL="914400" rtl="0" algn="l">
              <a:spcBef>
                <a:spcPts val="0"/>
              </a:spcBef>
              <a:spcAft>
                <a:spcPts val="0"/>
              </a:spcAft>
              <a:buClr>
                <a:schemeClr val="dk1"/>
              </a:buClr>
              <a:buSzPct val="100000"/>
              <a:buChar char="○"/>
            </a:pPr>
            <a:r>
              <a:rPr lang="en" sz="1100">
                <a:solidFill>
                  <a:srgbClr val="188038"/>
                </a:solidFill>
                <a:latin typeface="Roboto Mono"/>
                <a:ea typeface="Roboto Mono"/>
                <a:cs typeface="Roboto Mono"/>
                <a:sym typeface="Roboto Mono"/>
              </a:rPr>
              <a:t>current_address_country = 'USA'</a:t>
            </a:r>
            <a:r>
              <a:rPr lang="en" sz="1100">
                <a:solidFill>
                  <a:schemeClr val="dk1"/>
                </a:solidFill>
              </a:rPr>
              <a:t> OR </a:t>
            </a:r>
            <a:r>
              <a:rPr lang="en" sz="1100">
                <a:solidFill>
                  <a:srgbClr val="188038"/>
                </a:solidFill>
                <a:latin typeface="Roboto Mono"/>
                <a:ea typeface="Roboto Mono"/>
                <a:cs typeface="Roboto Mono"/>
                <a:sym typeface="Roboto Mono"/>
              </a:rPr>
              <a:t>transaction_origin_country = 'USA'</a:t>
            </a: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287972" lvl="1" marL="914400" rtl="0" algn="l">
              <a:spcBef>
                <a:spcPts val="0"/>
              </a:spcBef>
              <a:spcAft>
                <a:spcPts val="0"/>
              </a:spcAft>
              <a:buClr>
                <a:schemeClr val="dk1"/>
              </a:buClr>
              <a:buSzPct val="100000"/>
              <a:buChar char="○"/>
            </a:pPr>
            <a:r>
              <a:rPr lang="en" sz="1100">
                <a:solidFill>
                  <a:schemeClr val="dk1"/>
                </a:solidFill>
              </a:rPr>
              <a:t>Date range: 01/04/2022 – 01/08/2023</a:t>
            </a:r>
            <a:br>
              <a:rPr lang="en" sz="1100">
                <a:solidFill>
                  <a:schemeClr val="dk1"/>
                </a:solidFill>
              </a:rPr>
            </a:br>
            <a:endParaRPr sz="1964">
              <a:solidFill>
                <a:schemeClr val="dk1"/>
              </a:solidFill>
            </a:endParaRPr>
          </a:p>
          <a:p>
            <a:pPr indent="-287972" lvl="0" marL="457200" rtl="0" algn="l">
              <a:spcBef>
                <a:spcPts val="0"/>
              </a:spcBef>
              <a:spcAft>
                <a:spcPts val="0"/>
              </a:spcAft>
              <a:buClr>
                <a:schemeClr val="dk1"/>
              </a:buClr>
              <a:buSzPct val="55983"/>
              <a:buChar char="●"/>
            </a:pPr>
            <a:r>
              <a:rPr b="1" lang="en" sz="1964">
                <a:solidFill>
                  <a:schemeClr val="dk1"/>
                </a:solidFill>
              </a:rPr>
              <a:t>Metrics:</a:t>
            </a:r>
            <a:br>
              <a:rPr b="1" lang="en" sz="1100">
                <a:solidFill>
                  <a:schemeClr val="dk1"/>
                </a:solidFill>
              </a:rPr>
            </a:br>
            <a:endParaRPr b="1" sz="1100">
              <a:solidFill>
                <a:schemeClr val="dk1"/>
              </a:solidFill>
            </a:endParaRPr>
          </a:p>
          <a:p>
            <a:pPr indent="-287972" lvl="1" marL="914400" rtl="0" algn="l">
              <a:spcBef>
                <a:spcPts val="0"/>
              </a:spcBef>
              <a:spcAft>
                <a:spcPts val="0"/>
              </a:spcAft>
              <a:buClr>
                <a:schemeClr val="dk1"/>
              </a:buClr>
              <a:buSzPct val="100000"/>
              <a:buChar char="○"/>
            </a:pPr>
            <a:r>
              <a:rPr i="1" lang="en" sz="1100">
                <a:solidFill>
                  <a:schemeClr val="dk1"/>
                </a:solidFill>
              </a:rPr>
              <a:t>Cross-Currency GBP:</a:t>
            </a:r>
            <a:r>
              <a:rPr lang="en" sz="1100">
                <a:solidFill>
                  <a:schemeClr val="dk1"/>
                </a:solidFill>
              </a:rPr>
              <a:t> Total value of transactions with currency conversion</a:t>
            </a:r>
            <a:br>
              <a:rPr lang="en" sz="1100">
                <a:solidFill>
                  <a:schemeClr val="dk1"/>
                </a:solidFill>
              </a:rPr>
            </a:br>
            <a:endParaRPr sz="1100">
              <a:solidFill>
                <a:schemeClr val="dk1"/>
              </a:solidFill>
            </a:endParaRPr>
          </a:p>
          <a:p>
            <a:pPr indent="-287972" lvl="1" marL="914400" rtl="0" algn="l">
              <a:spcBef>
                <a:spcPts val="0"/>
              </a:spcBef>
              <a:spcAft>
                <a:spcPts val="0"/>
              </a:spcAft>
              <a:buClr>
                <a:schemeClr val="dk1"/>
              </a:buClr>
              <a:buSzPct val="100000"/>
              <a:buChar char="○"/>
            </a:pPr>
            <a:r>
              <a:rPr i="1" lang="en" sz="1100">
                <a:solidFill>
                  <a:schemeClr val="dk1"/>
                </a:solidFill>
              </a:rPr>
              <a:t>Same-Currency GBP:</a:t>
            </a:r>
            <a:r>
              <a:rPr lang="en" sz="1100">
                <a:solidFill>
                  <a:schemeClr val="dk1"/>
                </a:solidFill>
              </a:rPr>
              <a:t> Total value of transactions without conversion</a:t>
            </a:r>
            <a:br>
              <a:rPr lang="en" sz="1100">
                <a:solidFill>
                  <a:schemeClr val="dk1"/>
                </a:solidFill>
              </a:rPr>
            </a:br>
            <a:endParaRPr sz="1100">
              <a:solidFill>
                <a:schemeClr val="dk1"/>
              </a:solidFill>
            </a:endParaRPr>
          </a:p>
          <a:p>
            <a:pPr indent="-287972" lvl="1" marL="914400" rtl="0" algn="l">
              <a:spcBef>
                <a:spcPts val="0"/>
              </a:spcBef>
              <a:spcAft>
                <a:spcPts val="0"/>
              </a:spcAft>
              <a:buClr>
                <a:schemeClr val="dk1"/>
              </a:buClr>
              <a:buSzPct val="100000"/>
              <a:buChar char="○"/>
            </a:pPr>
            <a:r>
              <a:rPr i="1" lang="en" sz="1100">
                <a:solidFill>
                  <a:schemeClr val="dk1"/>
                </a:solidFill>
              </a:rPr>
              <a:t>Relative values:</a:t>
            </a:r>
            <a:r>
              <a:rPr lang="en" sz="1100">
                <a:solidFill>
                  <a:schemeClr val="dk1"/>
                </a:solidFill>
              </a:rPr>
              <a:t> Percentage of total GBP volume</a:t>
            </a:r>
            <a:br>
              <a:rPr lang="en"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51638"/>
              <a:buChar char="●"/>
            </a:pPr>
            <a:r>
              <a:rPr b="1" lang="en" sz="2130">
                <a:solidFill>
                  <a:schemeClr val="dk1"/>
                </a:solidFill>
              </a:rPr>
              <a:t>Visuals:</a:t>
            </a:r>
            <a:br>
              <a:rPr b="1" lang="en" sz="1100">
                <a:solidFill>
                  <a:schemeClr val="dk1"/>
                </a:solidFill>
              </a:rPr>
            </a:br>
            <a:endParaRPr b="1" sz="1100">
              <a:solidFill>
                <a:schemeClr val="dk1"/>
              </a:solidFill>
            </a:endParaRPr>
          </a:p>
          <a:p>
            <a:pPr indent="-287972" lvl="1" marL="914400" rtl="0" algn="l">
              <a:spcBef>
                <a:spcPts val="0"/>
              </a:spcBef>
              <a:spcAft>
                <a:spcPts val="0"/>
              </a:spcAft>
              <a:buClr>
                <a:schemeClr val="dk1"/>
              </a:buClr>
              <a:buSzPct val="100000"/>
              <a:buChar char="○"/>
            </a:pPr>
            <a:r>
              <a:rPr lang="en" sz="1100">
                <a:solidFill>
                  <a:schemeClr val="dk1"/>
                </a:solidFill>
              </a:rPr>
              <a:t>Bar chart for absolute GBP values</a:t>
            </a:r>
            <a:br>
              <a:rPr lang="en" sz="1100">
                <a:solidFill>
                  <a:schemeClr val="dk1"/>
                </a:solidFill>
              </a:rPr>
            </a:br>
            <a:endParaRPr sz="1100">
              <a:solidFill>
                <a:schemeClr val="dk1"/>
              </a:solidFill>
            </a:endParaRPr>
          </a:p>
          <a:p>
            <a:pPr indent="-287972" lvl="1" marL="914400" rtl="0" algn="l">
              <a:spcBef>
                <a:spcPts val="0"/>
              </a:spcBef>
              <a:spcAft>
                <a:spcPts val="0"/>
              </a:spcAft>
              <a:buClr>
                <a:schemeClr val="dk1"/>
              </a:buClr>
              <a:buSzPct val="100000"/>
              <a:buChar char="○"/>
            </a:pPr>
            <a:r>
              <a:rPr lang="en" sz="1100">
                <a:solidFill>
                  <a:schemeClr val="dk1"/>
                </a:solidFill>
              </a:rPr>
              <a:t>Pie chart for relative proportions</a:t>
            </a:r>
            <a:br>
              <a:rPr lang="en"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b="1" lang="en" sz="1100">
                <a:solidFill>
                  <a:schemeClr val="dk1"/>
                </a:solidFill>
              </a:rPr>
              <a:t>Insight:</a:t>
            </a:r>
            <a:r>
              <a:rPr lang="en" sz="1100">
                <a:solidFill>
                  <a:schemeClr val="dk1"/>
                </a:solidFill>
              </a:rPr>
              <a:t> Compare cross-currency vs same-currency activity for the US entity and identify trends relative to the UK entity.</a:t>
            </a:r>
            <a:br>
              <a:rPr lang="en" sz="1100">
                <a:solidFill>
                  <a:schemeClr val="dk1"/>
                </a:solidFill>
              </a:rPr>
            </a:br>
            <a:endParaRPr sz="1100">
              <a:solidFill>
                <a:schemeClr val="dk1"/>
              </a:solidFill>
            </a:endParaRPr>
          </a:p>
          <a:p>
            <a:pPr indent="0" lvl="0" marL="0" rtl="0" algn="l">
              <a:spcBef>
                <a:spcPts val="15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5" name="Google Shape;105;p21"/>
          <p:cNvPicPr preferRelativeResize="0"/>
          <p:nvPr/>
        </p:nvPicPr>
        <p:blipFill>
          <a:blip r:embed="rId3">
            <a:alphaModFix/>
          </a:blip>
          <a:stretch>
            <a:fillRect/>
          </a:stretch>
        </p:blipFill>
        <p:spPr>
          <a:xfrm>
            <a:off x="0" y="210700"/>
            <a:ext cx="8832298" cy="49327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1" name="Google Shape;11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2" name="Google Shape;112;p22"/>
          <p:cNvPicPr preferRelativeResize="0"/>
          <p:nvPr/>
        </p:nvPicPr>
        <p:blipFill>
          <a:blip r:embed="rId3">
            <a:alphaModFix/>
          </a:blip>
          <a:stretch>
            <a:fillRect/>
          </a:stretch>
        </p:blipFill>
        <p:spPr>
          <a:xfrm>
            <a:off x="0" y="215475"/>
            <a:ext cx="9144001" cy="4928024"/>
          </a:xfrm>
          <a:prstGeom prst="rect">
            <a:avLst/>
          </a:prstGeom>
          <a:noFill/>
          <a:ln>
            <a:noFill/>
          </a:ln>
        </p:spPr>
      </p:pic>
      <p:sp>
        <p:nvSpPr>
          <p:cNvPr id="113" name="Google Shape;113;p22"/>
          <p:cNvSpPr txBox="1"/>
          <p:nvPr/>
        </p:nvSpPr>
        <p:spPr>
          <a:xfrm>
            <a:off x="2771150" y="4361175"/>
            <a:ext cx="3479700" cy="685800"/>
          </a:xfrm>
          <a:prstGeom prst="rect">
            <a:avLst/>
          </a:prstGeom>
          <a:noFill/>
          <a:ln cap="flat" cmpd="sng" w="1905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dk1"/>
                </a:solidFill>
              </a:rPr>
              <a:t>Some categories show zero values because there were no transactions recorded for that currency type or entity during the selected period.</a:t>
            </a:r>
            <a:endParaRPr i="1"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82500" y="74950"/>
            <a:ext cx="8979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Absolute vs Relative Values &amp; Assumptions / Limitations</a:t>
            </a:r>
            <a:endParaRPr b="1"/>
          </a:p>
        </p:txBody>
      </p:sp>
      <p:sp>
        <p:nvSpPr>
          <p:cNvPr id="119" name="Google Shape;119;p23"/>
          <p:cNvSpPr txBox="1"/>
          <p:nvPr>
            <p:ph idx="1" type="body"/>
          </p:nvPr>
        </p:nvSpPr>
        <p:spPr>
          <a:xfrm>
            <a:off x="311700" y="647650"/>
            <a:ext cx="8520600" cy="4495800"/>
          </a:xfrm>
          <a:prstGeom prst="rect">
            <a:avLst/>
          </a:prstGeom>
        </p:spPr>
        <p:txBody>
          <a:bodyPr anchorCtr="0" anchor="t" bIns="91425" lIns="91425" spcFirstLastPara="1" rIns="91425" wrap="square" tIns="91425">
            <a:noAutofit/>
          </a:bodyPr>
          <a:lstStyle/>
          <a:p>
            <a:pPr indent="-298450" lvl="0" marL="457200" rtl="0" algn="l">
              <a:spcBef>
                <a:spcPts val="1500"/>
              </a:spcBef>
              <a:spcAft>
                <a:spcPts val="0"/>
              </a:spcAft>
              <a:buClr>
                <a:schemeClr val="dk1"/>
              </a:buClr>
              <a:buSzPts val="1100"/>
              <a:buChar char="●"/>
            </a:pPr>
            <a:r>
              <a:rPr b="1" lang="en" sz="1100">
                <a:solidFill>
                  <a:schemeClr val="dk1"/>
                </a:solidFill>
              </a:rPr>
              <a:t>Absolute values:</a:t>
            </a:r>
            <a:r>
              <a:rPr lang="en" sz="1100">
                <a:solidFill>
                  <a:schemeClr val="dk1"/>
                </a:solidFill>
              </a:rPr>
              <a:t> Represent total GBP transaction amounts for each category.</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Relative values:</a:t>
            </a:r>
            <a:r>
              <a:rPr lang="en" sz="1100">
                <a:solidFill>
                  <a:schemeClr val="dk1"/>
                </a:solidFill>
              </a:rPr>
              <a:t> Show the proportion of each category, highlighting trends and comparisons.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Assumptions:</a:t>
            </a:r>
            <a:br>
              <a:rPr b="1" lang="en" sz="1100">
                <a:solidFill>
                  <a:schemeClr val="dk1"/>
                </a:solidFill>
              </a:rPr>
            </a:br>
            <a:endParaRPr b="1"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UK and US entities defined by country fields</a:t>
            </a:r>
            <a:br>
              <a:rPr lang="en" sz="1100">
                <a:solidFill>
                  <a:schemeClr val="dk1"/>
                </a:solidFill>
              </a:rPr>
            </a:b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Cross/same-currency based on </a:t>
            </a:r>
            <a:r>
              <a:rPr lang="en" sz="1100">
                <a:solidFill>
                  <a:srgbClr val="188038"/>
                </a:solidFill>
                <a:latin typeface="Roboto Mono"/>
                <a:ea typeface="Roboto Mono"/>
                <a:cs typeface="Roboto Mono"/>
                <a:sym typeface="Roboto Mono"/>
              </a:rPr>
              <a:t>currency_route</a:t>
            </a: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298450" lvl="1" marL="914400" rtl="0" algn="l">
              <a:spcBef>
                <a:spcPts val="0"/>
              </a:spcBef>
              <a:spcAft>
                <a:spcPts val="0"/>
              </a:spcAft>
              <a:buClr>
                <a:schemeClr val="dk1"/>
              </a:buClr>
              <a:buSzPts val="1100"/>
              <a:buChar char="○"/>
            </a:pPr>
            <a:r>
              <a:rPr lang="en" sz="1100">
                <a:solidFill>
                  <a:schemeClr val="dk1"/>
                </a:solidFill>
              </a:rPr>
              <a:t>Transactions limited to 01/04/2022 – 01/08/2023</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Limitations:</a:t>
            </a:r>
            <a:br>
              <a:rPr b="1" lang="en" sz="1100">
                <a:solidFill>
                  <a:schemeClr val="dk1"/>
                </a:solidFill>
              </a:rPr>
            </a:br>
            <a:endParaRPr b="1"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Some transactions missing </a:t>
            </a:r>
            <a:r>
              <a:rPr lang="en" sz="1100">
                <a:solidFill>
                  <a:srgbClr val="188038"/>
                </a:solidFill>
                <a:latin typeface="Roboto Mono"/>
                <a:ea typeface="Roboto Mono"/>
                <a:cs typeface="Roboto Mono"/>
                <a:sym typeface="Roboto Mono"/>
              </a:rPr>
              <a:t>currency_route</a:t>
            </a: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298450" lvl="1" marL="914400" rtl="0" algn="l">
              <a:spcBef>
                <a:spcPts val="0"/>
              </a:spcBef>
              <a:spcAft>
                <a:spcPts val="0"/>
              </a:spcAft>
              <a:buClr>
                <a:schemeClr val="dk1"/>
              </a:buClr>
              <a:buSzPts val="1100"/>
              <a:buChar char="○"/>
            </a:pPr>
            <a:r>
              <a:rPr lang="en" sz="1100">
                <a:solidFill>
                  <a:schemeClr val="dk1"/>
                </a:solidFill>
              </a:rPr>
              <a:t>Negative amounts excluded (refunds/reversals not included)</a:t>
            </a:r>
            <a:br>
              <a:rPr lang="en" sz="1100">
                <a:solidFill>
                  <a:schemeClr val="dk1"/>
                </a:solidFill>
              </a:rPr>
            </a:b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Exchange rates not applied; relative values may exaggerate small categories</a:t>
            </a:r>
            <a:br>
              <a:rPr lang="en" sz="1100">
                <a:solidFill>
                  <a:schemeClr val="dk1"/>
                </a:solidFill>
              </a:rPr>
            </a:br>
            <a:endParaRPr sz="1100">
              <a:solidFill>
                <a:schemeClr val="dk1"/>
              </a:solidFill>
            </a:endParaRPr>
          </a:p>
          <a:p>
            <a:pPr indent="0" lvl="0" marL="0" rtl="0" algn="l">
              <a:spcBef>
                <a:spcPts val="1500"/>
              </a:spcBef>
              <a:spcAft>
                <a:spcPts val="0"/>
              </a:spcAft>
              <a:buClr>
                <a:schemeClr val="dk1"/>
              </a:buClr>
              <a:buSzPts val="1100"/>
              <a:buFont typeface="Arial"/>
              <a:buNone/>
            </a:pPr>
            <a:r>
              <a:rPr b="1" lang="en" sz="1100">
                <a:solidFill>
                  <a:schemeClr val="dk1"/>
                </a:solidFill>
              </a:rPr>
              <a:t>Visual suggestion:</a:t>
            </a:r>
            <a:r>
              <a:rPr lang="en" sz="1100">
                <a:solidFill>
                  <a:schemeClr val="dk1"/>
                </a:solidFill>
              </a:rPr>
              <a:t> Example chart showing absolute vs relative comparison</a:t>
            </a:r>
            <a:endParaRPr sz="1100">
              <a:solidFill>
                <a:schemeClr val="dk1"/>
              </a:solidFill>
            </a:endParaRPr>
          </a:p>
          <a:p>
            <a:pPr indent="0" lvl="0" marL="0" rtl="0" algn="l">
              <a:spcBef>
                <a:spcPts val="1500"/>
              </a:spcBef>
              <a:spcAft>
                <a:spcPts val="1200"/>
              </a:spcAft>
              <a:buNone/>
            </a:pPr>
            <a:r>
              <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idx="4294967295" type="title"/>
          </p:nvPr>
        </p:nvSpPr>
        <p:spPr>
          <a:xfrm>
            <a:off x="311700" y="114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SQL Logic &amp; Methodology</a:t>
            </a:r>
            <a:endParaRPr b="1"/>
          </a:p>
        </p:txBody>
      </p:sp>
      <p:sp>
        <p:nvSpPr>
          <p:cNvPr id="125" name="Google Shape;125;p24"/>
          <p:cNvSpPr txBox="1"/>
          <p:nvPr>
            <p:ph idx="4294967295" type="body"/>
          </p:nvPr>
        </p:nvSpPr>
        <p:spPr>
          <a:xfrm>
            <a:off x="311700" y="746075"/>
            <a:ext cx="8520600" cy="41727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spcBef>
                <a:spcPts val="1500"/>
              </a:spcBef>
              <a:spcAft>
                <a:spcPts val="0"/>
              </a:spcAft>
              <a:buClr>
                <a:schemeClr val="dk1"/>
              </a:buClr>
              <a:buSzPts val="1100"/>
              <a:buChar char="●"/>
            </a:pPr>
            <a:r>
              <a:rPr b="1" lang="en" sz="1100">
                <a:solidFill>
                  <a:schemeClr val="dk1"/>
                </a:solidFill>
              </a:rPr>
              <a:t>Data Extraction:</a:t>
            </a:r>
            <a:r>
              <a:rPr lang="en" sz="1100">
                <a:solidFill>
                  <a:schemeClr val="dk1"/>
                </a:solidFill>
              </a:rPr>
              <a:t> Imported Customers &amp; Transactions CSVs into BigQuery.</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Data Cleaning:</a:t>
            </a:r>
            <a:r>
              <a:rPr lang="en" sz="1100">
                <a:solidFill>
                  <a:schemeClr val="dk1"/>
                </a:solidFill>
              </a:rPr>
              <a:t> Removed duplicates, negative values, trimmed text fields.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Table Join:</a:t>
            </a:r>
            <a:r>
              <a:rPr lang="en" sz="1100">
                <a:solidFill>
                  <a:schemeClr val="dk1"/>
                </a:solidFill>
              </a:rPr>
              <a:t> Merged Customers &amp; Transactions on </a:t>
            </a:r>
            <a:r>
              <a:rPr lang="en" sz="1100">
                <a:solidFill>
                  <a:srgbClr val="188038"/>
                </a:solidFill>
                <a:latin typeface="Roboto Mono"/>
                <a:ea typeface="Roboto Mono"/>
                <a:cs typeface="Roboto Mono"/>
                <a:sym typeface="Roboto Mono"/>
              </a:rPr>
              <a:t>customer_id</a:t>
            </a:r>
            <a:r>
              <a:rPr lang="en" sz="1100">
                <a:solidFill>
                  <a:schemeClr val="dk1"/>
                </a:solidFill>
              </a:rPr>
              <a:t> → </a:t>
            </a:r>
            <a:r>
              <a:rPr lang="en" sz="1100">
                <a:solidFill>
                  <a:srgbClr val="188038"/>
                </a:solidFill>
                <a:latin typeface="Roboto Mono"/>
                <a:ea typeface="Roboto Mono"/>
                <a:cs typeface="Roboto Mono"/>
                <a:sym typeface="Roboto Mono"/>
              </a:rPr>
              <a:t>customer_transactions</a:t>
            </a:r>
            <a:r>
              <a:rPr lang="en" sz="1100">
                <a:solidFill>
                  <a:schemeClr val="dk1"/>
                </a:solidFill>
              </a:rPr>
              <a:t> dataset.</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a:solidFill>
                  <a:schemeClr val="dk1"/>
                </a:solidFill>
              </a:rPr>
              <a:t>Metrics Calculation:</a:t>
            </a:r>
            <a:br>
              <a:rPr b="1" lang="en" sz="1100">
                <a:solidFill>
                  <a:schemeClr val="dk1"/>
                </a:solidFill>
              </a:rPr>
            </a:br>
            <a:endParaRPr b="1"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Identified </a:t>
            </a:r>
            <a:r>
              <a:rPr b="1" lang="en" sz="1100">
                <a:solidFill>
                  <a:schemeClr val="dk1"/>
                </a:solidFill>
              </a:rPr>
              <a:t>cross-currency</a:t>
            </a:r>
            <a:r>
              <a:rPr lang="en" sz="1100">
                <a:solidFill>
                  <a:schemeClr val="dk1"/>
                </a:solidFill>
              </a:rPr>
              <a:t> vs </a:t>
            </a:r>
            <a:r>
              <a:rPr b="1" lang="en" sz="1100">
                <a:solidFill>
                  <a:schemeClr val="dk1"/>
                </a:solidFill>
              </a:rPr>
              <a:t>same-currency</a:t>
            </a:r>
            <a:r>
              <a:rPr lang="en" sz="1100">
                <a:solidFill>
                  <a:schemeClr val="dk1"/>
                </a:solidFill>
              </a:rPr>
              <a:t> transactions</a:t>
            </a:r>
            <a:br>
              <a:rPr lang="en" sz="1100">
                <a:solidFill>
                  <a:schemeClr val="dk1"/>
                </a:solidFill>
              </a:rPr>
            </a:b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Aggregated </a:t>
            </a:r>
            <a:r>
              <a:rPr b="1" lang="en" sz="1100">
                <a:solidFill>
                  <a:schemeClr val="dk1"/>
                </a:solidFill>
              </a:rPr>
              <a:t>absolute</a:t>
            </a:r>
            <a:r>
              <a:rPr lang="en" sz="1100">
                <a:solidFill>
                  <a:schemeClr val="dk1"/>
                </a:solidFill>
              </a:rPr>
              <a:t> and </a:t>
            </a:r>
            <a:r>
              <a:rPr b="1" lang="en" sz="1100">
                <a:solidFill>
                  <a:schemeClr val="dk1"/>
                </a:solidFill>
              </a:rPr>
              <a:t>relative</a:t>
            </a:r>
            <a:r>
              <a:rPr lang="en" sz="1100">
                <a:solidFill>
                  <a:schemeClr val="dk1"/>
                </a:solidFill>
              </a:rPr>
              <a:t> GBP values for R1 (UK) &amp; R2 (US)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Validation:</a:t>
            </a:r>
            <a:r>
              <a:rPr lang="en" sz="1100">
                <a:solidFill>
                  <a:schemeClr val="dk1"/>
                </a:solidFill>
              </a:rPr>
              <a:t> Checked for missing values, duplicates, and zero-value transactions.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Visualization:</a:t>
            </a:r>
            <a:r>
              <a:rPr lang="en" sz="1100">
                <a:solidFill>
                  <a:schemeClr val="dk1"/>
                </a:solidFill>
              </a:rPr>
              <a:t> Prepared charts in Tableau to compare metrics across entities.</a:t>
            </a:r>
            <a:br>
              <a:rPr lang="en" sz="1100">
                <a:solidFill>
                  <a:schemeClr val="dk1"/>
                </a:solidFill>
              </a:rPr>
            </a:br>
            <a:endParaRPr sz="1100">
              <a:solidFill>
                <a:schemeClr val="dk1"/>
              </a:solidFill>
            </a:endParaRPr>
          </a:p>
          <a:p>
            <a:pPr indent="0" lvl="0" marL="0" rtl="0" algn="l">
              <a:spcBef>
                <a:spcPts val="1500"/>
              </a:spcBef>
              <a:spcAft>
                <a:spcPts val="0"/>
              </a:spcAft>
              <a:buClr>
                <a:schemeClr val="dk1"/>
              </a:buClr>
              <a:buSzPts val="1100"/>
              <a:buFont typeface="Arial"/>
              <a:buNone/>
            </a:pPr>
            <a:r>
              <a:rPr b="1" lang="en" sz="1100">
                <a:solidFill>
                  <a:schemeClr val="dk1"/>
                </a:solidFill>
              </a:rPr>
              <a:t>Visual suggestion:</a:t>
            </a:r>
            <a:r>
              <a:rPr lang="en" sz="1100">
                <a:solidFill>
                  <a:schemeClr val="dk1"/>
                </a:solidFill>
              </a:rPr>
              <a:t> Flow diagram showing SQL steps → Metrics → Charts</a:t>
            </a:r>
            <a:endParaRPr sz="1100">
              <a:solidFill>
                <a:schemeClr val="dk1"/>
              </a:solidFill>
            </a:endParaRPr>
          </a:p>
          <a:p>
            <a:pPr indent="0" lvl="0" marL="0" rtl="0" algn="l">
              <a:spcBef>
                <a:spcPts val="1500"/>
              </a:spcBef>
              <a:spcAft>
                <a:spcPts val="1200"/>
              </a:spcAft>
              <a:buNone/>
            </a:pPr>
            <a:r>
              <a:t/>
            </a:r>
            <a:endParaRPr b="1"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None/>
            </a:pPr>
            <a:r>
              <a:rPr b="1" lang="en" sz="1800">
                <a:solidFill>
                  <a:schemeClr val="dk2"/>
                </a:solidFill>
              </a:rPr>
              <a:t>Example SQL snippet used to calculate UK cross-currency GBP volume (R1):</a:t>
            </a:r>
            <a:endParaRPr/>
          </a:p>
        </p:txBody>
      </p:sp>
      <p:sp>
        <p:nvSpPr>
          <p:cNvPr id="131" name="Google Shape;13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2" name="Google Shape;132;p25"/>
          <p:cNvPicPr preferRelativeResize="0"/>
          <p:nvPr/>
        </p:nvPicPr>
        <p:blipFill>
          <a:blip r:embed="rId3">
            <a:alphaModFix/>
          </a:blip>
          <a:stretch>
            <a:fillRect/>
          </a:stretch>
        </p:blipFill>
        <p:spPr>
          <a:xfrm>
            <a:off x="311700" y="1152475"/>
            <a:ext cx="8520600" cy="35120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Regulatory Reporting Workflow &amp; Tools</a:t>
            </a:r>
            <a:endParaRPr b="1"/>
          </a:p>
        </p:txBody>
      </p:sp>
      <p:sp>
        <p:nvSpPr>
          <p:cNvPr id="138" name="Google Shape;138;p26"/>
          <p:cNvSpPr txBox="1"/>
          <p:nvPr>
            <p:ph idx="1" type="body"/>
          </p:nvPr>
        </p:nvSpPr>
        <p:spPr>
          <a:xfrm>
            <a:off x="116850" y="712925"/>
            <a:ext cx="8943600" cy="4430700"/>
          </a:xfrm>
          <a:prstGeom prst="rect">
            <a:avLst/>
          </a:prstGeom>
        </p:spPr>
        <p:txBody>
          <a:bodyPr anchorCtr="0" anchor="t" bIns="91425" lIns="91425" spcFirstLastPara="1" rIns="91425" wrap="square" tIns="91425">
            <a:normAutofit/>
          </a:bodyPr>
          <a:lstStyle/>
          <a:p>
            <a:pPr indent="0" lvl="0" marL="0" rtl="0" algn="l">
              <a:spcBef>
                <a:spcPts val="1500"/>
              </a:spcBef>
              <a:spcAft>
                <a:spcPts val="0"/>
              </a:spcAft>
              <a:buClr>
                <a:schemeClr val="dk1"/>
              </a:buClr>
              <a:buSzPts val="1100"/>
              <a:buFont typeface="Arial"/>
              <a:buNone/>
            </a:pPr>
            <a:r>
              <a:rPr b="1" lang="en">
                <a:solidFill>
                  <a:schemeClr val="dk1"/>
                </a:solidFill>
              </a:rPr>
              <a:t>Workflow Steps:</a:t>
            </a:r>
            <a:endParaRPr b="1">
              <a:solidFill>
                <a:schemeClr val="dk1"/>
              </a:solidFill>
            </a:endParaRPr>
          </a:p>
          <a:p>
            <a:pPr indent="-298450" lvl="0" marL="457200" rtl="0" algn="l">
              <a:spcBef>
                <a:spcPts val="1500"/>
              </a:spcBef>
              <a:spcAft>
                <a:spcPts val="0"/>
              </a:spcAft>
              <a:buClr>
                <a:schemeClr val="dk1"/>
              </a:buClr>
              <a:buSzPts val="1100"/>
              <a:buAutoNum type="arabicPeriod"/>
            </a:pPr>
            <a:r>
              <a:rPr b="1" lang="en" sz="1100">
                <a:solidFill>
                  <a:schemeClr val="dk1"/>
                </a:solidFill>
              </a:rPr>
              <a:t>Data Extraction:</a:t>
            </a:r>
            <a:r>
              <a:rPr lang="en" sz="1100">
                <a:solidFill>
                  <a:schemeClr val="dk1"/>
                </a:solidFill>
              </a:rPr>
              <a:t> Import Customers &amp; Transactions CSVs into BigQuery</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Data Cleaning:</a:t>
            </a:r>
            <a:r>
              <a:rPr lang="en" sz="1100">
                <a:solidFill>
                  <a:schemeClr val="dk1"/>
                </a:solidFill>
              </a:rPr>
              <a:t> Remove duplicates, negative values, trim text fields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Aggregation:</a:t>
            </a:r>
            <a:r>
              <a:rPr lang="en" sz="1100">
                <a:solidFill>
                  <a:schemeClr val="dk1"/>
                </a:solidFill>
              </a:rPr>
              <a:t> Join tables &amp; calculate metrics (cross vs same-currency)</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Validation:</a:t>
            </a:r>
            <a:r>
              <a:rPr lang="en" sz="1100">
                <a:solidFill>
                  <a:schemeClr val="dk1"/>
                </a:solidFill>
              </a:rPr>
              <a:t> Check for missing values, duplicates, zero transactions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Visualization:</a:t>
            </a:r>
            <a:r>
              <a:rPr lang="en" sz="1100">
                <a:solidFill>
                  <a:schemeClr val="dk1"/>
                </a:solidFill>
              </a:rPr>
              <a:t> Prepare charts in Tableau</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Slide Pack Creation &amp; Submission:</a:t>
            </a:r>
            <a:r>
              <a:rPr lang="en" sz="1100">
                <a:solidFill>
                  <a:schemeClr val="dk1"/>
                </a:solidFill>
              </a:rPr>
              <a:t> Summarize findings and share with stakeholders</a:t>
            </a:r>
            <a:endParaRPr sz="1100">
              <a:solidFill>
                <a:schemeClr val="dk1"/>
              </a:solidFill>
            </a:endParaRPr>
          </a:p>
          <a:p>
            <a:pPr indent="0" lvl="0" marL="0" rtl="0" algn="l">
              <a:spcBef>
                <a:spcPts val="1500"/>
              </a:spcBef>
              <a:spcAft>
                <a:spcPts val="1200"/>
              </a:spcAft>
              <a:buNone/>
            </a:pPr>
            <a:r>
              <a:t/>
            </a:r>
            <a:endParaRPr/>
          </a:p>
        </p:txBody>
      </p:sp>
      <p:sp>
        <p:nvSpPr>
          <p:cNvPr id="139" name="Google Shape;139;p26"/>
          <p:cNvSpPr/>
          <p:nvPr/>
        </p:nvSpPr>
        <p:spPr>
          <a:xfrm>
            <a:off x="180850" y="3720875"/>
            <a:ext cx="1224300" cy="43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26"/>
          <p:cNvSpPr/>
          <p:nvPr/>
        </p:nvSpPr>
        <p:spPr>
          <a:xfrm>
            <a:off x="2026075" y="3714550"/>
            <a:ext cx="1247100" cy="43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6"/>
          <p:cNvSpPr/>
          <p:nvPr/>
        </p:nvSpPr>
        <p:spPr>
          <a:xfrm>
            <a:off x="3894013" y="3720875"/>
            <a:ext cx="1224300" cy="43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6"/>
          <p:cNvSpPr/>
          <p:nvPr/>
        </p:nvSpPr>
        <p:spPr>
          <a:xfrm>
            <a:off x="5738700" y="3720875"/>
            <a:ext cx="1247100" cy="43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6"/>
          <p:cNvSpPr/>
          <p:nvPr/>
        </p:nvSpPr>
        <p:spPr>
          <a:xfrm>
            <a:off x="7716100" y="3714550"/>
            <a:ext cx="1247100" cy="43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6"/>
          <p:cNvSpPr/>
          <p:nvPr/>
        </p:nvSpPr>
        <p:spPr>
          <a:xfrm>
            <a:off x="1543750" y="3848200"/>
            <a:ext cx="343800" cy="165600"/>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26"/>
          <p:cNvSpPr/>
          <p:nvPr/>
        </p:nvSpPr>
        <p:spPr>
          <a:xfrm>
            <a:off x="3411700" y="3848200"/>
            <a:ext cx="343800" cy="165600"/>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6"/>
          <p:cNvSpPr/>
          <p:nvPr/>
        </p:nvSpPr>
        <p:spPr>
          <a:xfrm>
            <a:off x="5256838" y="3848200"/>
            <a:ext cx="343800" cy="165600"/>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6"/>
          <p:cNvSpPr/>
          <p:nvPr/>
        </p:nvSpPr>
        <p:spPr>
          <a:xfrm>
            <a:off x="7200900" y="3854525"/>
            <a:ext cx="343800" cy="165600"/>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6"/>
          <p:cNvSpPr txBox="1"/>
          <p:nvPr/>
        </p:nvSpPr>
        <p:spPr>
          <a:xfrm>
            <a:off x="180925" y="3754000"/>
            <a:ext cx="1224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1"/>
                </a:solidFill>
              </a:rPr>
              <a:t>Data Extraction</a:t>
            </a:r>
            <a:endParaRPr sz="1100">
              <a:solidFill>
                <a:schemeClr val="dk1"/>
              </a:solidFill>
            </a:endParaRPr>
          </a:p>
        </p:txBody>
      </p:sp>
      <p:sp>
        <p:nvSpPr>
          <p:cNvPr id="149" name="Google Shape;149;p26"/>
          <p:cNvSpPr txBox="1"/>
          <p:nvPr/>
        </p:nvSpPr>
        <p:spPr>
          <a:xfrm>
            <a:off x="2037475" y="3754000"/>
            <a:ext cx="1224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1"/>
                </a:solidFill>
              </a:rPr>
              <a:t>Data Cleaning</a:t>
            </a:r>
            <a:endParaRPr sz="1100">
              <a:solidFill>
                <a:schemeClr val="dk1"/>
              </a:solidFill>
            </a:endParaRPr>
          </a:p>
        </p:txBody>
      </p:sp>
      <p:sp>
        <p:nvSpPr>
          <p:cNvPr id="150" name="Google Shape;150;p26"/>
          <p:cNvSpPr txBox="1"/>
          <p:nvPr/>
        </p:nvSpPr>
        <p:spPr>
          <a:xfrm>
            <a:off x="3894025" y="3754000"/>
            <a:ext cx="1224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1"/>
                </a:solidFill>
              </a:rPr>
              <a:t>Aggregation</a:t>
            </a:r>
            <a:endParaRPr sz="1100">
              <a:solidFill>
                <a:schemeClr val="dk1"/>
              </a:solidFill>
            </a:endParaRPr>
          </a:p>
        </p:txBody>
      </p:sp>
      <p:sp>
        <p:nvSpPr>
          <p:cNvPr id="151" name="Google Shape;151;p26"/>
          <p:cNvSpPr txBox="1"/>
          <p:nvPr/>
        </p:nvSpPr>
        <p:spPr>
          <a:xfrm>
            <a:off x="7716100" y="3760325"/>
            <a:ext cx="1344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1"/>
                </a:solidFill>
              </a:rPr>
              <a:t>Visualization</a:t>
            </a:r>
            <a:endParaRPr sz="1100">
              <a:solidFill>
                <a:schemeClr val="dk1"/>
              </a:solidFill>
            </a:endParaRPr>
          </a:p>
        </p:txBody>
      </p:sp>
      <p:sp>
        <p:nvSpPr>
          <p:cNvPr id="152" name="Google Shape;152;p26"/>
          <p:cNvSpPr txBox="1"/>
          <p:nvPr/>
        </p:nvSpPr>
        <p:spPr>
          <a:xfrm>
            <a:off x="5739175" y="3754000"/>
            <a:ext cx="1224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1"/>
                </a:solidFill>
              </a:rPr>
              <a:t>Validation</a:t>
            </a:r>
            <a:endParaRPr sz="1100">
              <a:solidFill>
                <a:schemeClr val="dk1"/>
              </a:solidFill>
            </a:endParaRPr>
          </a:p>
        </p:txBody>
      </p:sp>
      <p:sp>
        <p:nvSpPr>
          <p:cNvPr id="153" name="Google Shape;153;p26"/>
          <p:cNvSpPr txBox="1"/>
          <p:nvPr/>
        </p:nvSpPr>
        <p:spPr>
          <a:xfrm>
            <a:off x="485150" y="4399275"/>
            <a:ext cx="7734300" cy="43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rPr>
              <a:t>Tools &amp; Technologies:</a:t>
            </a:r>
            <a:r>
              <a:rPr lang="en" sz="1100">
                <a:solidFill>
                  <a:schemeClr val="dk1"/>
                </a:solidFill>
              </a:rPr>
              <a:t> BigQuery (data storage &amp; querying), SQL &amp; Excel/Sheets (data cleaning &amp; preparation), Tableau Desktop/Public (visualization), Google Slides/PowerPoint/PDF (reporting &amp; slide pack)</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2164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2500"/>
              <a:t>Key Insights &amp; Conclusion</a:t>
            </a:r>
            <a:endParaRPr sz="2500"/>
          </a:p>
        </p:txBody>
      </p:sp>
      <p:sp>
        <p:nvSpPr>
          <p:cNvPr id="159" name="Google Shape;159;p27"/>
          <p:cNvSpPr txBox="1"/>
          <p:nvPr>
            <p:ph idx="1" type="body"/>
          </p:nvPr>
        </p:nvSpPr>
        <p:spPr>
          <a:xfrm>
            <a:off x="311700" y="690875"/>
            <a:ext cx="8520600" cy="3878100"/>
          </a:xfrm>
          <a:prstGeom prst="rect">
            <a:avLst/>
          </a:prstGeom>
        </p:spPr>
        <p:txBody>
          <a:bodyPr anchorCtr="0" anchor="t" bIns="91425" lIns="91425" spcFirstLastPara="1" rIns="91425" wrap="square" tIns="91425">
            <a:normAutofit fontScale="92500" lnSpcReduction="20000"/>
          </a:bodyPr>
          <a:lstStyle/>
          <a:p>
            <a:pPr indent="0" lvl="0" marL="0" rtl="0" algn="l">
              <a:spcBef>
                <a:spcPts val="1400"/>
              </a:spcBef>
              <a:spcAft>
                <a:spcPts val="0"/>
              </a:spcAft>
              <a:buNone/>
            </a:pPr>
            <a:r>
              <a:t/>
            </a:r>
            <a:endParaRPr b="1" sz="1900">
              <a:solidFill>
                <a:schemeClr val="dk1"/>
              </a:solidFill>
            </a:endParaRPr>
          </a:p>
          <a:p>
            <a:pPr indent="-293211" lvl="0" marL="457200" rtl="0" algn="l">
              <a:spcBef>
                <a:spcPts val="1500"/>
              </a:spcBef>
              <a:spcAft>
                <a:spcPts val="0"/>
              </a:spcAft>
              <a:buClr>
                <a:schemeClr val="dk1"/>
              </a:buClr>
              <a:buSzPct val="57894"/>
              <a:buChar char="●"/>
            </a:pPr>
            <a:r>
              <a:rPr b="1" lang="en" sz="1900">
                <a:solidFill>
                  <a:schemeClr val="dk1"/>
                </a:solidFill>
              </a:rPr>
              <a:t>Key Insights:</a:t>
            </a:r>
            <a:br>
              <a:rPr b="1" lang="en" sz="1100">
                <a:solidFill>
                  <a:schemeClr val="dk1"/>
                </a:solidFill>
              </a:rPr>
            </a:br>
            <a:endParaRPr b="1" sz="1100">
              <a:solidFill>
                <a:schemeClr val="dk1"/>
              </a:solidFill>
            </a:endParaRPr>
          </a:p>
          <a:p>
            <a:pPr indent="-296148" lvl="1" marL="914400" rtl="0" algn="l">
              <a:spcBef>
                <a:spcPts val="0"/>
              </a:spcBef>
              <a:spcAft>
                <a:spcPts val="0"/>
              </a:spcAft>
              <a:buClr>
                <a:schemeClr val="dk1"/>
              </a:buClr>
              <a:buSzPct val="100000"/>
              <a:buChar char="○"/>
            </a:pPr>
            <a:r>
              <a:rPr lang="en" sz="1150">
                <a:solidFill>
                  <a:schemeClr val="dk1"/>
                </a:solidFill>
              </a:rPr>
              <a:t>R1 (UK) vs R2 (US) show different levels of cross-currency activity</a:t>
            </a:r>
            <a:br>
              <a:rPr lang="en" sz="1150">
                <a:solidFill>
                  <a:schemeClr val="dk1"/>
                </a:solidFill>
              </a:rPr>
            </a:br>
            <a:endParaRPr sz="1150">
              <a:solidFill>
                <a:schemeClr val="dk1"/>
              </a:solidFill>
            </a:endParaRPr>
          </a:p>
          <a:p>
            <a:pPr indent="-296148" lvl="1" marL="914400" rtl="0" algn="l">
              <a:spcBef>
                <a:spcPts val="0"/>
              </a:spcBef>
              <a:spcAft>
                <a:spcPts val="0"/>
              </a:spcAft>
              <a:buClr>
                <a:schemeClr val="dk1"/>
              </a:buClr>
              <a:buSzPct val="100000"/>
              <a:buChar char="○"/>
            </a:pPr>
            <a:r>
              <a:rPr lang="en" sz="1150">
                <a:solidFill>
                  <a:schemeClr val="dk1"/>
                </a:solidFill>
              </a:rPr>
              <a:t>Relative values highlight clear trends over time</a:t>
            </a:r>
            <a:br>
              <a:rPr lang="en" sz="1150">
                <a:solidFill>
                  <a:schemeClr val="dk1"/>
                </a:solidFill>
              </a:rPr>
            </a:br>
            <a:endParaRPr sz="1150">
              <a:solidFill>
                <a:schemeClr val="dk1"/>
              </a:solidFill>
            </a:endParaRPr>
          </a:p>
          <a:p>
            <a:pPr indent="-293211" lvl="1" marL="914400" rtl="0" algn="l">
              <a:spcBef>
                <a:spcPts val="0"/>
              </a:spcBef>
              <a:spcAft>
                <a:spcPts val="0"/>
              </a:spcAft>
              <a:buClr>
                <a:schemeClr val="dk1"/>
              </a:buClr>
              <a:buSzPct val="95652"/>
              <a:buChar char="○"/>
            </a:pPr>
            <a:r>
              <a:rPr lang="en" sz="1150">
                <a:solidFill>
                  <a:schemeClr val="dk1"/>
                </a:solidFill>
              </a:rPr>
              <a:t>Zero or missing categories indicate limited or no activity in some segments</a:t>
            </a:r>
            <a:br>
              <a:rPr lang="en" sz="1100">
                <a:solidFill>
                  <a:schemeClr val="dk1"/>
                </a:solidFill>
              </a:rPr>
            </a:br>
            <a:endParaRPr sz="1900">
              <a:solidFill>
                <a:schemeClr val="dk1"/>
              </a:solidFill>
            </a:endParaRPr>
          </a:p>
          <a:p>
            <a:pPr indent="-340201" lvl="0" marL="457200" rtl="0" algn="l">
              <a:spcBef>
                <a:spcPts val="0"/>
              </a:spcBef>
              <a:spcAft>
                <a:spcPts val="0"/>
              </a:spcAft>
              <a:buClr>
                <a:schemeClr val="dk1"/>
              </a:buClr>
              <a:buSzPct val="100000"/>
              <a:buChar char="●"/>
            </a:pPr>
            <a:r>
              <a:rPr b="1" lang="en" sz="1900">
                <a:solidFill>
                  <a:schemeClr val="dk1"/>
                </a:solidFill>
              </a:rPr>
              <a:t>Conclusion / Next Steps:</a:t>
            </a:r>
            <a:br>
              <a:rPr b="1" lang="en" sz="1900">
                <a:solidFill>
                  <a:schemeClr val="dk1"/>
                </a:solidFill>
              </a:rPr>
            </a:br>
            <a:endParaRPr b="1" sz="1150">
              <a:solidFill>
                <a:schemeClr val="dk1"/>
              </a:solidFill>
            </a:endParaRPr>
          </a:p>
          <a:p>
            <a:pPr indent="-296148" lvl="1" marL="914400" rtl="0" algn="l">
              <a:spcBef>
                <a:spcPts val="0"/>
              </a:spcBef>
              <a:spcAft>
                <a:spcPts val="0"/>
              </a:spcAft>
              <a:buClr>
                <a:schemeClr val="dk1"/>
              </a:buClr>
              <a:buSzPct val="100000"/>
              <a:buChar char="○"/>
            </a:pPr>
            <a:r>
              <a:rPr lang="en" sz="1150">
                <a:solidFill>
                  <a:schemeClr val="dk1"/>
                </a:solidFill>
              </a:rPr>
              <a:t>Cleaned and aggregated data enabled accurate reporting for both entities</a:t>
            </a:r>
            <a:br>
              <a:rPr lang="en" sz="1150">
                <a:solidFill>
                  <a:schemeClr val="dk1"/>
                </a:solidFill>
              </a:rPr>
            </a:br>
            <a:endParaRPr sz="1150">
              <a:solidFill>
                <a:schemeClr val="dk1"/>
              </a:solidFill>
            </a:endParaRPr>
          </a:p>
          <a:p>
            <a:pPr indent="-296148" lvl="1" marL="914400" rtl="0" algn="l">
              <a:spcBef>
                <a:spcPts val="0"/>
              </a:spcBef>
              <a:spcAft>
                <a:spcPts val="0"/>
              </a:spcAft>
              <a:buClr>
                <a:schemeClr val="dk1"/>
              </a:buClr>
              <a:buSzPct val="100000"/>
              <a:buChar char="○"/>
            </a:pPr>
            <a:r>
              <a:rPr lang="en" sz="1150">
                <a:solidFill>
                  <a:schemeClr val="dk1"/>
                </a:solidFill>
              </a:rPr>
              <a:t>Absolute &amp; relative views provided both scale and proportion insights</a:t>
            </a:r>
            <a:br>
              <a:rPr lang="en" sz="1150">
                <a:solidFill>
                  <a:schemeClr val="dk1"/>
                </a:solidFill>
              </a:rPr>
            </a:br>
            <a:endParaRPr sz="1150">
              <a:solidFill>
                <a:schemeClr val="dk1"/>
              </a:solidFill>
            </a:endParaRPr>
          </a:p>
          <a:p>
            <a:pPr indent="-296148" lvl="1" marL="914400" rtl="0" algn="l">
              <a:spcBef>
                <a:spcPts val="0"/>
              </a:spcBef>
              <a:spcAft>
                <a:spcPts val="0"/>
              </a:spcAft>
              <a:buClr>
                <a:schemeClr val="dk1"/>
              </a:buClr>
              <a:buSzPct val="100000"/>
              <a:buChar char="○"/>
            </a:pPr>
            <a:r>
              <a:rPr lang="en" sz="1150">
                <a:solidFill>
                  <a:schemeClr val="dk1"/>
                </a:solidFill>
              </a:rPr>
              <a:t>Future improvements: include refunds/chargebacks, factor in exchange rates, and automate dashboards for ongoing monitoring</a:t>
            </a:r>
            <a:endParaRPr sz="1150">
              <a:solidFill>
                <a:schemeClr val="dk1"/>
              </a:solidFill>
            </a:endParaRPr>
          </a:p>
          <a:p>
            <a:pPr indent="0" lvl="0" marL="0" rtl="0" algn="l">
              <a:spcBef>
                <a:spcPts val="15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311700" y="271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Appendix – Detailed Records (UK Example)</a:t>
            </a:r>
            <a:endParaRPr b="1"/>
          </a:p>
        </p:txBody>
      </p:sp>
      <p:sp>
        <p:nvSpPr>
          <p:cNvPr id="165" name="Google Shape;165;p28"/>
          <p:cNvSpPr txBox="1"/>
          <p:nvPr>
            <p:ph idx="1" type="body"/>
          </p:nvPr>
        </p:nvSpPr>
        <p:spPr>
          <a:xfrm>
            <a:off x="311700" y="1015650"/>
            <a:ext cx="8520600" cy="355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6" name="Google Shape;166;p28"/>
          <p:cNvPicPr preferRelativeResize="0"/>
          <p:nvPr/>
        </p:nvPicPr>
        <p:blipFill>
          <a:blip r:embed="rId3">
            <a:alphaModFix/>
          </a:blip>
          <a:stretch>
            <a:fillRect/>
          </a:stretch>
        </p:blipFill>
        <p:spPr>
          <a:xfrm>
            <a:off x="311700" y="1015650"/>
            <a:ext cx="8520598" cy="3553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